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hGyi82A7lyN/Xr7yXm/Zm/yR4tA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customschemas.google.com/relationships/presentationmetadata" Target="metadata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" name="Google Shape;23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" name="Google Shape;24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1" name="Google Shape;61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2" name="Google Shape;62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1" name="Google Shape;81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6" name="Google Shape;106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7" name="Google Shape;107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4" name="Google Shape;144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5" name="Google Shape;145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5" name="Google Shape;175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6" name="Google Shape;176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5" name="Google Shape;215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6" name="Google Shape;216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9" name="Google Shape;229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0" name="Google Shape;230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ec37c23744_0_6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6" name="Google Shape;246;g3ec37c23744_0_6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7" name="Google Shape;247;g3ec37c23744_0_6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0" name="Google Shape;260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1" name="Google Shape;261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6" name="Google Shape;286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7" name="Google Shape;287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0" name="Google Shape;340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1" name="Google Shape;341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7" name="Google Shape;357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8" name="Google Shape;358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9" Type="http://schemas.openxmlformats.org/officeDocument/2006/relationships/image" Target="../media/image23.png"/><Relationship Id="rId5" Type="http://schemas.openxmlformats.org/officeDocument/2006/relationships/image" Target="../media/image2.png"/><Relationship Id="rId6" Type="http://schemas.openxmlformats.org/officeDocument/2006/relationships/image" Target="../media/image5.png"/><Relationship Id="rId7" Type="http://schemas.openxmlformats.org/officeDocument/2006/relationships/image" Target="../media/image4.png"/><Relationship Id="rId8" Type="http://schemas.openxmlformats.org/officeDocument/2006/relationships/image" Target="../media/image2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16.png"/><Relationship Id="rId5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21.png"/><Relationship Id="rId5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9.png"/><Relationship Id="rId5" Type="http://schemas.openxmlformats.org/officeDocument/2006/relationships/image" Target="../media/image13.png"/><Relationship Id="rId6" Type="http://schemas.openxmlformats.org/officeDocument/2006/relationships/image" Target="../media/image11.png"/><Relationship Id="rId7" Type="http://schemas.openxmlformats.org/officeDocument/2006/relationships/image" Target="../media/image17.png"/><Relationship Id="rId8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0.png"/><Relationship Id="rId4" Type="http://schemas.openxmlformats.org/officeDocument/2006/relationships/image" Target="../media/image2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Relationship Id="rId4" Type="http://schemas.openxmlformats.org/officeDocument/2006/relationships/image" Target="../media/image3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Relationship Id="rId4" Type="http://schemas.openxmlformats.org/officeDocument/2006/relationships/image" Target="../media/image22.png"/><Relationship Id="rId5" Type="http://schemas.openxmlformats.org/officeDocument/2006/relationships/image" Target="../media/image1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6.png"/><Relationship Id="rId4" Type="http://schemas.openxmlformats.org/officeDocument/2006/relationships/image" Target="../media/image34.png"/><Relationship Id="rId5" Type="http://schemas.openxmlformats.org/officeDocument/2006/relationships/image" Target="../media/image29.png"/><Relationship Id="rId6" Type="http://schemas.openxmlformats.org/officeDocument/2006/relationships/image" Target="../media/image32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213F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7818120" y="0"/>
            <a:ext cx="4373575" cy="6858000"/>
          </a:xfrm>
          <a:prstGeom prst="rect">
            <a:avLst/>
          </a:prstGeom>
          <a:solidFill>
            <a:srgbClr val="1C2E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868680" y="1481328"/>
            <a:ext cx="310896" cy="310896"/>
          </a:xfrm>
          <a:prstGeom prst="rect">
            <a:avLst/>
          </a:prstGeom>
          <a:solidFill>
            <a:srgbClr val="2F55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1298448" y="141732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DB2F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9DB2F2"/>
                </a:solidFill>
                <a:latin typeface="Calibri"/>
                <a:ea typeface="Calibri"/>
                <a:cs typeface="Calibri"/>
                <a:sym typeface="Calibri"/>
              </a:rPr>
              <a:t>DEFENSA FINAL DE PROYECTO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841248" y="2011680"/>
            <a:ext cx="676656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libri"/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CertiMentor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868680" y="3611880"/>
            <a:ext cx="6675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D3F5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C7D3F5"/>
                </a:solidFill>
                <a:latin typeface="Calibri"/>
                <a:ea typeface="Calibri"/>
                <a:cs typeface="Calibri"/>
                <a:sym typeface="Calibri"/>
              </a:rPr>
              <a:t>Taller Aplicado de Programación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" name="Google Shape;17;p1"/>
          <p:cNvCxnSpPr/>
          <p:nvPr/>
        </p:nvCxnSpPr>
        <p:spPr>
          <a:xfrm>
            <a:off x="896112" y="4224528"/>
            <a:ext cx="2926080" cy="0"/>
          </a:xfrm>
          <a:prstGeom prst="straightConnector1">
            <a:avLst/>
          </a:prstGeom>
          <a:noFill/>
          <a:ln cap="flat" cmpd="sng" w="31750">
            <a:solidFill>
              <a:srgbClr val="2F55D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1"/>
          <p:cNvSpPr/>
          <p:nvPr/>
        </p:nvSpPr>
        <p:spPr>
          <a:xfrm>
            <a:off x="896112" y="4480560"/>
            <a:ext cx="65836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BCE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EBCE0"/>
                </a:solidFill>
                <a:latin typeface="Calibri"/>
                <a:ea typeface="Calibri"/>
                <a:cs typeface="Calibri"/>
                <a:sym typeface="Calibri"/>
              </a:rPr>
              <a:t>Integrantes :  Brayan Gallardo · Nicolás Parra · Emilio Morales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AEBCE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EBCE0"/>
                </a:solidFill>
                <a:latin typeface="Calibri"/>
                <a:ea typeface="Calibri"/>
                <a:cs typeface="Calibri"/>
                <a:sym typeface="Calibri"/>
              </a:rPr>
              <a:t>Docente:  Marcela Gonzalez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AEBCE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EBCE0"/>
                </a:solidFill>
                <a:latin typeface="Calibri"/>
                <a:ea typeface="Calibri"/>
                <a:cs typeface="Calibri"/>
                <a:sym typeface="Calibri"/>
              </a:rPr>
              <a:t>Sección:  001D        Fecha:  [ 16 / 06 / 2026 ]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8229600" y="777240"/>
            <a:ext cx="3291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Duoc UC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8247888" y="1325880"/>
            <a:ext cx="3657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A2D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FA2D8"/>
                </a:solidFill>
                <a:latin typeface="Calibri"/>
                <a:ea typeface="Calibri"/>
                <a:cs typeface="Calibri"/>
                <a:sym typeface="Calibri"/>
              </a:rPr>
              <a:t>INFORMÁTICA 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A2D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FA2D8"/>
                </a:solidFill>
                <a:latin typeface="Calibri"/>
                <a:ea typeface="Calibri"/>
                <a:cs typeface="Calibri"/>
                <a:sym typeface="Calibri"/>
              </a:rPr>
              <a:t>TELECOMUNICACIONES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"/>
          <p:cNvSpPr/>
          <p:nvPr/>
        </p:nvSpPr>
        <p:spPr>
          <a:xfrm>
            <a:off x="640080" y="566928"/>
            <a:ext cx="164592" cy="164592"/>
          </a:xfrm>
          <a:prstGeom prst="rect">
            <a:avLst/>
          </a:prstGeom>
          <a:solidFill>
            <a:srgbClr val="2F55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896112" y="45720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5D4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2F55D4"/>
                </a:solidFill>
                <a:latin typeface="Calibri"/>
                <a:ea typeface="Calibri"/>
                <a:cs typeface="Calibri"/>
                <a:sym typeface="Calibri"/>
              </a:rPr>
              <a:t>ESTRUCTURA DE LA PRESENTACIÓN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621792" y="749808"/>
            <a:ext cx="10881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5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A2235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621805" y="6409938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3A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A93A8"/>
                </a:solidFill>
                <a:latin typeface="Calibri"/>
                <a:ea typeface="Calibri"/>
                <a:cs typeface="Calibri"/>
                <a:sym typeface="Calibri"/>
              </a:rPr>
              <a:t>ESCUELA DE INFORMÁTICA Y TELECOMUNICACIONES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9966960" y="6400800"/>
            <a:ext cx="159105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235"/>
                </a:solidFill>
                <a:latin typeface="Calibri"/>
                <a:ea typeface="Calibri"/>
                <a:cs typeface="Calibri"/>
                <a:sym typeface="Calibri"/>
              </a:rPr>
              <a:t>Duoc UC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640080" y="1600200"/>
            <a:ext cx="5349240" cy="914400"/>
          </a:xfrm>
          <a:prstGeom prst="roundRect">
            <a:avLst>
              <a:gd fmla="val 7000" name="adj"/>
            </a:avLst>
          </a:prstGeom>
          <a:solidFill>
            <a:srgbClr val="F4F7FE"/>
          </a:solidFill>
          <a:ln cap="flat" cmpd="sng" w="12700">
            <a:solidFill>
              <a:srgbClr val="D6DE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822960" y="1764792"/>
            <a:ext cx="86868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5D4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2F55D4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" name="Google Shape;3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55648" y="1892808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2"/>
          <p:cNvSpPr/>
          <p:nvPr/>
        </p:nvSpPr>
        <p:spPr>
          <a:xfrm>
            <a:off x="2267712" y="1709928"/>
            <a:ext cx="356616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5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A2235"/>
                </a:solidFill>
                <a:latin typeface="Calibri"/>
                <a:ea typeface="Calibri"/>
                <a:cs typeface="Calibri"/>
                <a:sym typeface="Calibri"/>
              </a:rPr>
              <a:t>Contexto y problemática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6309360" y="1600200"/>
            <a:ext cx="5349240" cy="914400"/>
          </a:xfrm>
          <a:prstGeom prst="roundRect">
            <a:avLst>
              <a:gd fmla="val 7000" name="adj"/>
            </a:avLst>
          </a:prstGeom>
          <a:solidFill>
            <a:srgbClr val="F4F7FE"/>
          </a:solidFill>
          <a:ln cap="flat" cmpd="sng" w="12700">
            <a:solidFill>
              <a:srgbClr val="D6DE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6492240" y="1764792"/>
            <a:ext cx="86868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5D4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2F55D4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7" name="Google Shape;37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24928" y="1892808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2"/>
          <p:cNvSpPr/>
          <p:nvPr/>
        </p:nvSpPr>
        <p:spPr>
          <a:xfrm>
            <a:off x="7936992" y="1709928"/>
            <a:ext cx="356616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5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A2235"/>
                </a:solidFill>
                <a:latin typeface="Calibri"/>
                <a:ea typeface="Calibri"/>
                <a:cs typeface="Calibri"/>
                <a:sym typeface="Calibri"/>
              </a:rPr>
              <a:t>Objetivos y alcance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640080" y="2715768"/>
            <a:ext cx="5349240" cy="914400"/>
          </a:xfrm>
          <a:prstGeom prst="roundRect">
            <a:avLst>
              <a:gd fmla="val 7000" name="adj"/>
            </a:avLst>
          </a:prstGeom>
          <a:solidFill>
            <a:srgbClr val="F4F7FE"/>
          </a:solidFill>
          <a:ln cap="flat" cmpd="sng" w="12700">
            <a:solidFill>
              <a:srgbClr val="D6DE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822960" y="2880360"/>
            <a:ext cx="86868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5D4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2F55D4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1" name="Google Shape;41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55648" y="3008376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2"/>
          <p:cNvSpPr/>
          <p:nvPr/>
        </p:nvSpPr>
        <p:spPr>
          <a:xfrm>
            <a:off x="2267712" y="2825496"/>
            <a:ext cx="356616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5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A2235"/>
                </a:solidFill>
                <a:latin typeface="Calibri"/>
                <a:ea typeface="Calibri"/>
                <a:cs typeface="Calibri"/>
                <a:sym typeface="Calibri"/>
              </a:rPr>
              <a:t>Metodología, planificación y roles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6309360" y="2715768"/>
            <a:ext cx="5349240" cy="914400"/>
          </a:xfrm>
          <a:prstGeom prst="roundRect">
            <a:avLst>
              <a:gd fmla="val 7000" name="adj"/>
            </a:avLst>
          </a:prstGeom>
          <a:solidFill>
            <a:srgbClr val="F4F7FE"/>
          </a:solidFill>
          <a:ln cap="flat" cmpd="sng" w="12700">
            <a:solidFill>
              <a:srgbClr val="D6DE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6492240" y="2880360"/>
            <a:ext cx="86868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5D4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2F55D4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5" name="Google Shape;45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424928" y="3008376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2"/>
          <p:cNvSpPr/>
          <p:nvPr/>
        </p:nvSpPr>
        <p:spPr>
          <a:xfrm>
            <a:off x="7936992" y="2825496"/>
            <a:ext cx="356616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5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A2235"/>
                </a:solidFill>
                <a:latin typeface="Calibri"/>
                <a:ea typeface="Calibri"/>
                <a:cs typeface="Calibri"/>
                <a:sym typeface="Calibri"/>
              </a:rPr>
              <a:t>Arquitectura y diseño de la solución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640080" y="3831336"/>
            <a:ext cx="5349240" cy="914400"/>
          </a:xfrm>
          <a:prstGeom prst="roundRect">
            <a:avLst>
              <a:gd fmla="val 7000" name="adj"/>
            </a:avLst>
          </a:prstGeom>
          <a:solidFill>
            <a:srgbClr val="F4F7FE"/>
          </a:solidFill>
          <a:ln cap="flat" cmpd="sng" w="12700">
            <a:solidFill>
              <a:srgbClr val="D6DE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822960" y="3995928"/>
            <a:ext cx="86868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5D4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2F55D4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9" name="Google Shape;49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755648" y="4123944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2"/>
          <p:cNvSpPr/>
          <p:nvPr/>
        </p:nvSpPr>
        <p:spPr>
          <a:xfrm>
            <a:off x="2267712" y="3941064"/>
            <a:ext cx="356616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5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A2235"/>
                </a:solidFill>
                <a:latin typeface="Calibri"/>
                <a:ea typeface="Calibri"/>
                <a:cs typeface="Calibri"/>
                <a:sym typeface="Calibri"/>
              </a:rPr>
              <a:t>Demostración del producto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6309355" y="3831342"/>
            <a:ext cx="5349300" cy="914400"/>
          </a:xfrm>
          <a:prstGeom prst="roundRect">
            <a:avLst>
              <a:gd fmla="val 7000" name="adj"/>
            </a:avLst>
          </a:prstGeom>
          <a:solidFill>
            <a:srgbClr val="F4F7FE"/>
          </a:solidFill>
          <a:ln cap="flat" cmpd="sng" w="12700">
            <a:solidFill>
              <a:srgbClr val="D6DE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6492235" y="3995934"/>
            <a:ext cx="8688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5D4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2F55D4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3" name="Google Shape;53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424923" y="4123949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2"/>
          <p:cNvSpPr/>
          <p:nvPr/>
        </p:nvSpPr>
        <p:spPr>
          <a:xfrm>
            <a:off x="7936987" y="3941070"/>
            <a:ext cx="3566100" cy="69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5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A2235"/>
                </a:solidFill>
                <a:latin typeface="Calibri"/>
                <a:ea typeface="Calibri"/>
                <a:cs typeface="Calibri"/>
                <a:sym typeface="Calibri"/>
              </a:rPr>
              <a:t>Modelo de negocio y monetización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640085" y="4974342"/>
            <a:ext cx="5349300" cy="914400"/>
          </a:xfrm>
          <a:prstGeom prst="roundRect">
            <a:avLst>
              <a:gd fmla="val 7000" name="adj"/>
            </a:avLst>
          </a:prstGeom>
          <a:solidFill>
            <a:srgbClr val="F4F7FE"/>
          </a:solidFill>
          <a:ln cap="flat" cmpd="sng" w="12700">
            <a:solidFill>
              <a:srgbClr val="D6DE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822965" y="5138934"/>
            <a:ext cx="8688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5D4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2F55D4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7" name="Google Shape;57;p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755653" y="5266949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2"/>
          <p:cNvSpPr/>
          <p:nvPr/>
        </p:nvSpPr>
        <p:spPr>
          <a:xfrm>
            <a:off x="2267717" y="5084070"/>
            <a:ext cx="3566100" cy="69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5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A2235"/>
                </a:solidFill>
                <a:latin typeface="Calibri"/>
                <a:ea typeface="Calibri"/>
                <a:cs typeface="Calibri"/>
                <a:sym typeface="Calibri"/>
              </a:rPr>
              <a:t>Gestión, conclusiones y cierre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/>
          <p:nvPr/>
        </p:nvSpPr>
        <p:spPr>
          <a:xfrm>
            <a:off x="640080" y="566928"/>
            <a:ext cx="164592" cy="164592"/>
          </a:xfrm>
          <a:prstGeom prst="rect">
            <a:avLst/>
          </a:prstGeom>
          <a:solidFill>
            <a:srgbClr val="2F55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896112" y="45720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5D4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2F55D4"/>
                </a:solidFill>
                <a:latin typeface="Calibri"/>
                <a:ea typeface="Calibri"/>
                <a:cs typeface="Calibri"/>
                <a:sym typeface="Calibri"/>
              </a:rPr>
              <a:t>PUNTO DE PARTIDA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621792" y="749808"/>
            <a:ext cx="10881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5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A2235"/>
                </a:solidFill>
                <a:latin typeface="Calibri"/>
                <a:ea typeface="Calibri"/>
                <a:cs typeface="Calibri"/>
                <a:sym typeface="Calibri"/>
              </a:rPr>
              <a:t>Contexto y problemática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3A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A93A8"/>
                </a:solidFill>
                <a:latin typeface="Calibri"/>
                <a:ea typeface="Calibri"/>
                <a:cs typeface="Calibri"/>
                <a:sym typeface="Calibri"/>
              </a:rPr>
              <a:t>ESCUELA DE INFORMÁTICA Y TELECOMUNICACIONES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9966960" y="6400800"/>
            <a:ext cx="159105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235"/>
                </a:solidFill>
                <a:latin typeface="Calibri"/>
                <a:ea typeface="Calibri"/>
                <a:cs typeface="Calibri"/>
                <a:sym typeface="Calibri"/>
              </a:rPr>
              <a:t>Duoc UC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640080" y="1600200"/>
            <a:ext cx="6446520" cy="4526280"/>
          </a:xfrm>
          <a:prstGeom prst="roundRect">
            <a:avLst>
              <a:gd fmla="val 1616" name="adj"/>
            </a:avLst>
          </a:prstGeom>
          <a:solidFill>
            <a:srgbClr val="FFFFFF"/>
          </a:solidFill>
          <a:ln cap="flat" cmpd="sng" w="12700">
            <a:solidFill>
              <a:srgbClr val="D6DEF2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B143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896112" y="1801368"/>
            <a:ext cx="59893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5D4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2F55D4"/>
                </a:solidFill>
                <a:latin typeface="Calibri"/>
                <a:ea typeface="Calibri"/>
                <a:cs typeface="Calibri"/>
                <a:sym typeface="Calibri"/>
              </a:rPr>
              <a:t>El problema que resolvemos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896112" y="2221992"/>
            <a:ext cx="5971032" cy="3739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883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5C6883"/>
                </a:solidFill>
                <a:latin typeface="Calibri"/>
                <a:ea typeface="Calibri"/>
                <a:cs typeface="Calibri"/>
                <a:sym typeface="Calibri"/>
              </a:rPr>
              <a:t>Los estudiantes de programación pierden horas buscando ayuda en foros y videos sin garantía de calidad ni actualización.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5C6883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5C6883"/>
                </a:solidFill>
                <a:latin typeface="Calibri"/>
                <a:ea typeface="Calibri"/>
                <a:cs typeface="Calibri"/>
                <a:sym typeface="Calibri"/>
              </a:rPr>
              <a:t>No existe una plataforma que valide formalmente las competencias de quienes ofrecen mentoría técnica en línea.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5C6883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5C6883"/>
                </a:solidFill>
                <a:latin typeface="Calibri"/>
                <a:ea typeface="Calibri"/>
                <a:cs typeface="Calibri"/>
                <a:sym typeface="Calibri"/>
              </a:rPr>
              <a:t>En el contexto de educación técnica actual, la demanda de apoyo entre pares certificados crece junto con la masificación del aprendizaje online.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5C6883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5C6883"/>
                </a:solidFill>
                <a:latin typeface="Calibri"/>
                <a:ea typeface="Calibri"/>
                <a:cs typeface="Calibri"/>
                <a:sym typeface="Calibri"/>
              </a:rPr>
              <a:t>El modelo involucra a estudiantes que buscan ayuda, mentores que ofrecen su conocimiento y administradores que garantizan la integridad del ecosistema.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5C6883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5C6883"/>
                </a:solidFill>
                <a:latin typeface="Calibri"/>
                <a:ea typeface="Calibri"/>
                <a:cs typeface="Calibri"/>
                <a:sym typeface="Calibri"/>
              </a:rPr>
              <a:t>Oportunidad: crear un espacio donde la mentoría técnica sea verificable, ágil y accesible para cualquier estudiante en cualquier momento.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7269480" y="1600200"/>
            <a:ext cx="4251960" cy="2148840"/>
          </a:xfrm>
          <a:prstGeom prst="roundRect">
            <a:avLst>
              <a:gd fmla="val 3404" name="adj"/>
            </a:avLst>
          </a:prstGeom>
          <a:solidFill>
            <a:srgbClr val="13213F"/>
          </a:solidFill>
          <a:ln>
            <a:noFill/>
          </a:ln>
          <a:effectLst>
            <a:outerShdw blurRad="114300" rotWithShape="0" algn="bl" dir="5400000" dist="38100">
              <a:srgbClr val="0B143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7498080" y="1810512"/>
            <a:ext cx="37947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 de cada 4 estudiantes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7498080" y="2578608"/>
            <a:ext cx="379476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BCE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EBCE0"/>
                </a:solidFill>
                <a:latin typeface="Calibri"/>
                <a:ea typeface="Calibri"/>
                <a:cs typeface="Calibri"/>
                <a:sym typeface="Calibri"/>
              </a:rPr>
              <a:t>reportan frustración al buscar ayuda técnica en línea por falta de fuentes confiables y verificadas.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7269480" y="3977640"/>
            <a:ext cx="4251960" cy="2148840"/>
          </a:xfrm>
          <a:prstGeom prst="roundRect">
            <a:avLst>
              <a:gd fmla="val 3404" name="adj"/>
            </a:avLst>
          </a:prstGeom>
          <a:solidFill>
            <a:srgbClr val="E9EEFC"/>
          </a:solidFill>
          <a:ln cap="flat" cmpd="sng" w="12700">
            <a:solidFill>
              <a:srgbClr val="D6DE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76" name="Google Shape;7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8080" y="4206240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3"/>
          <p:cNvSpPr/>
          <p:nvPr/>
        </p:nvSpPr>
        <p:spPr>
          <a:xfrm>
            <a:off x="7973568" y="4187952"/>
            <a:ext cx="3291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2235"/>
                </a:solidFill>
                <a:latin typeface="Calibri"/>
                <a:ea typeface="Calibri"/>
                <a:cs typeface="Calibri"/>
                <a:sym typeface="Calibri"/>
              </a:rPr>
              <a:t>¿A quién impacta?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7498080" y="4709160"/>
            <a:ext cx="37947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883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5C6883"/>
                </a:solidFill>
                <a:latin typeface="Calibri"/>
                <a:ea typeface="Calibri"/>
                <a:cs typeface="Calibri"/>
                <a:sym typeface="Calibri"/>
              </a:rPr>
              <a:t>Estudiantes de programación y tecnología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C6883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5C6883"/>
                </a:solidFill>
                <a:latin typeface="Calibri"/>
                <a:ea typeface="Calibri"/>
                <a:cs typeface="Calibri"/>
                <a:sym typeface="Calibri"/>
              </a:rPr>
              <a:t>Mentores técnicos certificados de la industria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C6883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5C6883"/>
                </a:solidFill>
                <a:latin typeface="Calibri"/>
                <a:ea typeface="Calibri"/>
                <a:cs typeface="Calibri"/>
                <a:sym typeface="Calibri"/>
              </a:rPr>
              <a:t>Sector EdTech / Educación técnica superior (Duoc UC)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"/>
          <p:cNvSpPr/>
          <p:nvPr/>
        </p:nvSpPr>
        <p:spPr>
          <a:xfrm>
            <a:off x="640080" y="566928"/>
            <a:ext cx="164592" cy="164592"/>
          </a:xfrm>
          <a:prstGeom prst="rect">
            <a:avLst/>
          </a:prstGeom>
          <a:solidFill>
            <a:srgbClr val="2F55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896112" y="45720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5D4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2F55D4"/>
                </a:solidFill>
                <a:latin typeface="Calibri"/>
                <a:ea typeface="Calibri"/>
                <a:cs typeface="Calibri"/>
                <a:sym typeface="Calibri"/>
              </a:rPr>
              <a:t>QUÉ NOS PROPUSIMOS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621792" y="749808"/>
            <a:ext cx="10881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5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A2235"/>
                </a:solidFill>
                <a:latin typeface="Calibri"/>
                <a:ea typeface="Calibri"/>
                <a:cs typeface="Calibri"/>
                <a:sym typeface="Calibri"/>
              </a:rPr>
              <a:t>Objetivos y alcance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3A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A93A8"/>
                </a:solidFill>
                <a:latin typeface="Calibri"/>
                <a:ea typeface="Calibri"/>
                <a:cs typeface="Calibri"/>
                <a:sym typeface="Calibri"/>
              </a:rPr>
              <a:t>ESCUELA DE INFORMÁTICA Y TELECOMUNICACIONES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9966960" y="6400800"/>
            <a:ext cx="159105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235"/>
                </a:solidFill>
                <a:latin typeface="Calibri"/>
                <a:ea typeface="Calibri"/>
                <a:cs typeface="Calibri"/>
                <a:sym typeface="Calibri"/>
              </a:rPr>
              <a:t>Duoc UC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640080" y="1600200"/>
            <a:ext cx="10881360" cy="1097280"/>
          </a:xfrm>
          <a:prstGeom prst="roundRect">
            <a:avLst>
              <a:gd fmla="val 6667" name="adj"/>
            </a:avLst>
          </a:prstGeom>
          <a:solidFill>
            <a:srgbClr val="2F55D4"/>
          </a:solidFill>
          <a:ln>
            <a:noFill/>
          </a:ln>
          <a:effectLst>
            <a:outerShdw blurRad="114300" rotWithShape="0" algn="bl" dir="5400000" dist="38100">
              <a:srgbClr val="0B143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90" name="Google Shape;9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1938528"/>
            <a:ext cx="420624" cy="420624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4"/>
          <p:cNvSpPr/>
          <p:nvPr/>
        </p:nvSpPr>
        <p:spPr>
          <a:xfrm>
            <a:off x="1508760" y="178308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D3F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7D3F5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1508760" y="2066544"/>
            <a:ext cx="9784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Desarrollar una plataforma web de mentoría técnica certificada que conecte a estudiantes con profesionales validados de la industria, facilitando sesiones de apoyo ágiles, confiables y verificables en un plazo de 18 semanas.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640080" y="2880360"/>
            <a:ext cx="5285232" cy="3246120"/>
          </a:xfrm>
          <a:prstGeom prst="roundRect">
            <a:avLst>
              <a:gd fmla="val 2254" name="adj"/>
            </a:avLst>
          </a:prstGeom>
          <a:solidFill>
            <a:srgbClr val="FFFFFF"/>
          </a:solidFill>
          <a:ln cap="flat" cmpd="sng" w="12700">
            <a:solidFill>
              <a:srgbClr val="D6DEF2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B143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896112" y="3081528"/>
            <a:ext cx="482803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A8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3AA8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896112" y="3502152"/>
            <a:ext cx="4809744" cy="24597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883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5C6883"/>
                </a:solidFill>
                <a:latin typeface="Calibri"/>
                <a:ea typeface="Calibri"/>
                <a:cs typeface="Calibri"/>
                <a:sym typeface="Calibri"/>
              </a:rPr>
              <a:t>Implementar un sistema de perfiles con carga y validación de certificados PDF para mentores.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5C6883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5C6883"/>
                </a:solidFill>
                <a:latin typeface="Calibri"/>
                <a:ea typeface="Calibri"/>
                <a:cs typeface="Calibri"/>
                <a:sym typeface="Calibri"/>
              </a:rPr>
              <a:t>Crear un módulo de agendamiento de sesiones síncronas de 15 a 30 minutos entre estudiantes y mentores.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5C6883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5C6883"/>
                </a:solidFill>
                <a:latin typeface="Calibri"/>
                <a:ea typeface="Calibri"/>
                <a:cs typeface="Calibri"/>
                <a:sym typeface="Calibri"/>
              </a:rPr>
              <a:t>Desarrollar un buscador de mentores por etiqueta tecnológica y un sistema de reseñas de 1 a 5 estrellas.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5C6883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5C6883"/>
                </a:solidFill>
                <a:latin typeface="Calibri"/>
                <a:ea typeface="Calibri"/>
                <a:cs typeface="Calibri"/>
                <a:sym typeface="Calibri"/>
              </a:rPr>
              <a:t>Construir un panel de administración para auditar certificados y mantener la integridad de la plataforma.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6236208" y="2880360"/>
            <a:ext cx="5285232" cy="3246120"/>
          </a:xfrm>
          <a:prstGeom prst="roundRect">
            <a:avLst>
              <a:gd fmla="val 2254" name="adj"/>
            </a:avLst>
          </a:prstGeom>
          <a:solidFill>
            <a:srgbClr val="F4F7FE"/>
          </a:solidFill>
          <a:ln cap="flat" cmpd="sng" w="12700">
            <a:solidFill>
              <a:srgbClr val="D6DE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6492240" y="3063240"/>
            <a:ext cx="47548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A8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3AA8"/>
                </a:solidFill>
                <a:latin typeface="Calibri"/>
                <a:ea typeface="Calibri"/>
                <a:cs typeface="Calibri"/>
                <a:sym typeface="Calibri"/>
              </a:rPr>
              <a:t>Alcance del proyecto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8" name="Google Shape;98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92240" y="3529584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4"/>
          <p:cNvSpPr/>
          <p:nvPr/>
        </p:nvSpPr>
        <p:spPr>
          <a:xfrm>
            <a:off x="6858000" y="3502152"/>
            <a:ext cx="4389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5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A2235"/>
                </a:solidFill>
                <a:latin typeface="Calibri"/>
                <a:ea typeface="Calibri"/>
                <a:cs typeface="Calibri"/>
                <a:sym typeface="Calibri"/>
              </a:rPr>
              <a:t>Incluye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6510528" y="3840480"/>
            <a:ext cx="47548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883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5C6883"/>
                </a:solidFill>
                <a:latin typeface="Calibri"/>
                <a:ea typeface="Calibri"/>
                <a:cs typeface="Calibri"/>
                <a:sym typeface="Calibri"/>
              </a:rPr>
              <a:t>Registro, autenticación JWT y roles (Estudiante, Mentor, Administrador)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C6883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5C6883"/>
                </a:solidFill>
                <a:latin typeface="Calibri"/>
                <a:ea typeface="Calibri"/>
                <a:cs typeface="Calibri"/>
                <a:sym typeface="Calibri"/>
              </a:rPr>
              <a:t>Búsqueda de mentores, agendamiento de sesiones y sistema de reseñas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C6883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5C6883"/>
                </a:solidFill>
                <a:latin typeface="Calibri"/>
                <a:ea typeface="Calibri"/>
                <a:cs typeface="Calibri"/>
                <a:sym typeface="Calibri"/>
              </a:rPr>
              <a:t>Subida de certificados PDF, panel de auditoría y despliegue en la nube (Railway + Vercel)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1" name="Google Shape;101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92240" y="495604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4"/>
          <p:cNvSpPr/>
          <p:nvPr/>
        </p:nvSpPr>
        <p:spPr>
          <a:xfrm>
            <a:off x="6858000" y="4928616"/>
            <a:ext cx="4389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5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A2235"/>
                </a:solidFill>
                <a:latin typeface="Calibri"/>
                <a:ea typeface="Calibri"/>
                <a:cs typeface="Calibri"/>
                <a:sym typeface="Calibri"/>
              </a:rPr>
              <a:t>Fuera de alcance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6510528" y="5266944"/>
            <a:ext cx="47548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883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5C6883"/>
                </a:solidFill>
                <a:latin typeface="Calibri"/>
                <a:ea typeface="Calibri"/>
                <a:cs typeface="Calibri"/>
                <a:sym typeface="Calibri"/>
              </a:rPr>
              <a:t>Videollamadas integradas ni mensajería en tiempo real (el contacto ocurre fuera de la plataforma)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C6883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5C6883"/>
                </a:solidFill>
                <a:latin typeface="Calibri"/>
                <a:ea typeface="Calibri"/>
                <a:cs typeface="Calibri"/>
                <a:sym typeface="Calibri"/>
              </a:rPr>
              <a:t>Tecnologías gratuitas o de capa free; alcance limitado al código fuente funcional, documentación y manual de usuario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"/>
          <p:cNvSpPr/>
          <p:nvPr/>
        </p:nvSpPr>
        <p:spPr>
          <a:xfrm>
            <a:off x="640080" y="566928"/>
            <a:ext cx="164592" cy="164592"/>
          </a:xfrm>
          <a:prstGeom prst="rect">
            <a:avLst/>
          </a:prstGeom>
          <a:solidFill>
            <a:srgbClr val="2F55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896112" y="45720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5D4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2F55D4"/>
                </a:solidFill>
                <a:latin typeface="Calibri"/>
                <a:ea typeface="Calibri"/>
                <a:cs typeface="Calibri"/>
                <a:sym typeface="Calibri"/>
              </a:rPr>
              <a:t>CÓMO ORGANIZAMOS EL TRABAJO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621792" y="749808"/>
            <a:ext cx="10881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5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A2235"/>
                </a:solidFill>
                <a:latin typeface="Calibri"/>
                <a:ea typeface="Calibri"/>
                <a:cs typeface="Calibri"/>
                <a:sym typeface="Calibri"/>
              </a:rPr>
              <a:t>Metodología y planificación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3A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A93A8"/>
                </a:solidFill>
                <a:latin typeface="Calibri"/>
                <a:ea typeface="Calibri"/>
                <a:cs typeface="Calibri"/>
                <a:sym typeface="Calibri"/>
              </a:rPr>
              <a:t>ESCUELA DE INFORMÁTICA Y TELECOMUNICACIONES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9966960" y="6400800"/>
            <a:ext cx="159105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235"/>
                </a:solidFill>
                <a:latin typeface="Calibri"/>
                <a:ea typeface="Calibri"/>
                <a:cs typeface="Calibri"/>
                <a:sym typeface="Calibri"/>
              </a:rPr>
              <a:t>Duoc UC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640080" y="1600200"/>
            <a:ext cx="3657600" cy="4526280"/>
          </a:xfrm>
          <a:prstGeom prst="roundRect">
            <a:avLst>
              <a:gd fmla="val 2000" name="adj"/>
            </a:avLst>
          </a:prstGeom>
          <a:solidFill>
            <a:srgbClr val="FFFFFF"/>
          </a:solidFill>
          <a:ln cap="flat" cmpd="sng" w="12700">
            <a:solidFill>
              <a:srgbClr val="D6DEF2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B143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896112" y="1801368"/>
            <a:ext cx="32004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A8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3AA8"/>
                </a:solidFill>
                <a:latin typeface="Calibri"/>
                <a:ea typeface="Calibri"/>
                <a:cs typeface="Calibri"/>
                <a:sym typeface="Calibri"/>
              </a:rPr>
              <a:t>Metodología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896112" y="2221992"/>
            <a:ext cx="3182112" cy="3739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883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5C6883"/>
                </a:solidFill>
                <a:latin typeface="Calibri"/>
                <a:ea typeface="Calibri"/>
                <a:cs typeface="Calibri"/>
                <a:sym typeface="Calibri"/>
              </a:rPr>
              <a:t>Metodología SCRUM con ciclo de vida iterativo e incremental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5C6883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5C6883"/>
                </a:solidFill>
                <a:latin typeface="Calibri"/>
                <a:ea typeface="Calibri"/>
                <a:cs typeface="Calibri"/>
                <a:sym typeface="Calibri"/>
              </a:rPr>
              <a:t>4 sprints de 2-3 semanas cada uno a lo largo de 18 semanas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5C6883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5C6883"/>
                </a:solidFill>
                <a:latin typeface="Calibri"/>
                <a:ea typeface="Calibri"/>
                <a:cs typeface="Calibri"/>
                <a:sym typeface="Calibri"/>
              </a:rPr>
              <a:t>Sprint Planning, Daily (Discord), Sprint Review y Retrospectiva</a:t>
            </a:r>
            <a:endParaRPr b="0" i="0" sz="1250" u="none" cap="none" strike="noStrike">
              <a:solidFill>
                <a:srgbClr val="5C688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5C6883"/>
              </a:buClr>
              <a:buSzPts val="1250"/>
              <a:buFont typeface="Calibri"/>
              <a:buChar char="•"/>
            </a:pPr>
            <a:r>
              <a:rPr lang="en-US" sz="1250">
                <a:solidFill>
                  <a:srgbClr val="5C6883"/>
                </a:solidFill>
                <a:latin typeface="Calibri"/>
                <a:ea typeface="Calibri"/>
                <a:cs typeface="Calibri"/>
                <a:sym typeface="Calibri"/>
              </a:rPr>
              <a:t>Despliegue de la </a:t>
            </a:r>
            <a:r>
              <a:rPr lang="en-US" sz="1250">
                <a:solidFill>
                  <a:srgbClr val="5C6883"/>
                </a:solidFill>
                <a:latin typeface="Calibri"/>
                <a:ea typeface="Calibri"/>
                <a:cs typeface="Calibri"/>
                <a:sym typeface="Calibri"/>
              </a:rPr>
              <a:t>página</a:t>
            </a:r>
            <a:r>
              <a:rPr lang="en-US" sz="1250">
                <a:solidFill>
                  <a:srgbClr val="5C6883"/>
                </a:solidFill>
                <a:latin typeface="Calibri"/>
                <a:ea typeface="Calibri"/>
                <a:cs typeface="Calibri"/>
                <a:sym typeface="Calibri"/>
              </a:rPr>
              <a:t> con el Backend conectado en Railway y frontend en Vercel.</a:t>
            </a:r>
            <a:endParaRPr sz="1250">
              <a:solidFill>
                <a:srgbClr val="5C688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4434840" y="1600200"/>
            <a:ext cx="7086600" cy="4526280"/>
          </a:xfrm>
          <a:prstGeom prst="roundRect">
            <a:avLst>
              <a:gd fmla="val 1616" name="adj"/>
            </a:avLst>
          </a:prstGeom>
          <a:solidFill>
            <a:srgbClr val="F4F7FE"/>
          </a:solidFill>
          <a:ln cap="flat" cmpd="sng" w="12700">
            <a:solidFill>
              <a:srgbClr val="D6DE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4681728" y="1783080"/>
            <a:ext cx="65836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A8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E3AA8"/>
                </a:solidFill>
                <a:latin typeface="Calibri"/>
                <a:ea typeface="Calibri"/>
                <a:cs typeface="Calibri"/>
                <a:sym typeface="Calibri"/>
              </a:rPr>
              <a:t>Planificación general — hitos del semestre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4754880" y="2331720"/>
            <a:ext cx="457200" cy="457200"/>
          </a:xfrm>
          <a:prstGeom prst="ellipse">
            <a:avLst/>
          </a:prstGeom>
          <a:solidFill>
            <a:srgbClr val="2F55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4754880" y="23317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1" name="Google Shape;121;p5"/>
          <p:cNvCxnSpPr/>
          <p:nvPr/>
        </p:nvCxnSpPr>
        <p:spPr>
          <a:xfrm>
            <a:off x="4983480" y="2788920"/>
            <a:ext cx="0" cy="475488"/>
          </a:xfrm>
          <a:prstGeom prst="straightConnector1">
            <a:avLst/>
          </a:prstGeom>
          <a:noFill/>
          <a:ln cap="flat" cmpd="sng" w="19050">
            <a:solidFill>
              <a:srgbClr val="2F55D4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22" name="Google Shape;122;p5"/>
          <p:cNvSpPr/>
          <p:nvPr/>
        </p:nvSpPr>
        <p:spPr>
          <a:xfrm>
            <a:off x="5440680" y="2295144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5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A2235"/>
                </a:solidFill>
                <a:latin typeface="Calibri"/>
                <a:ea typeface="Calibri"/>
                <a:cs typeface="Calibri"/>
                <a:sym typeface="Calibri"/>
              </a:rPr>
              <a:t>Experiencia 1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5440680" y="2551176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88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C6883"/>
                </a:solidFill>
                <a:latin typeface="Calibri"/>
                <a:ea typeface="Calibri"/>
                <a:cs typeface="Calibri"/>
                <a:sym typeface="Calibri"/>
              </a:rPr>
              <a:t>Definir y planificar la problemática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9784080" y="2350008"/>
            <a:ext cx="1600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A8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E3AA8"/>
                </a:solidFill>
                <a:latin typeface="Calibri"/>
                <a:ea typeface="Calibri"/>
                <a:cs typeface="Calibri"/>
                <a:sym typeface="Calibri"/>
              </a:rPr>
              <a:t>Semana 4 · 30%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4754880" y="3264408"/>
            <a:ext cx="457200" cy="457200"/>
          </a:xfrm>
          <a:prstGeom prst="ellipse">
            <a:avLst/>
          </a:prstGeom>
          <a:solidFill>
            <a:srgbClr val="2F55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4754880" y="326440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7" name="Google Shape;127;p5"/>
          <p:cNvCxnSpPr/>
          <p:nvPr/>
        </p:nvCxnSpPr>
        <p:spPr>
          <a:xfrm>
            <a:off x="4983480" y="3721608"/>
            <a:ext cx="0" cy="475488"/>
          </a:xfrm>
          <a:prstGeom prst="straightConnector1">
            <a:avLst/>
          </a:prstGeom>
          <a:noFill/>
          <a:ln cap="flat" cmpd="sng" w="19050">
            <a:solidFill>
              <a:srgbClr val="2F55D4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28" name="Google Shape;128;p5"/>
          <p:cNvSpPr/>
          <p:nvPr/>
        </p:nvSpPr>
        <p:spPr>
          <a:xfrm>
            <a:off x="5440680" y="3227832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5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A2235"/>
                </a:solidFill>
                <a:latin typeface="Calibri"/>
                <a:ea typeface="Calibri"/>
                <a:cs typeface="Calibri"/>
                <a:sym typeface="Calibri"/>
              </a:rPr>
              <a:t>Experiencia 2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5440680" y="3483864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88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C6883"/>
                </a:solidFill>
                <a:latin typeface="Calibri"/>
                <a:ea typeface="Calibri"/>
                <a:cs typeface="Calibri"/>
                <a:sym typeface="Calibri"/>
              </a:rPr>
              <a:t>Diseño y desarrollo de la solución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9784080" y="3282696"/>
            <a:ext cx="1600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A8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E3AA8"/>
                </a:solidFill>
                <a:latin typeface="Calibri"/>
                <a:ea typeface="Calibri"/>
                <a:cs typeface="Calibri"/>
                <a:sym typeface="Calibri"/>
              </a:rPr>
              <a:t>Semanas 11-12 · 35%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4754880" y="4197096"/>
            <a:ext cx="457200" cy="457200"/>
          </a:xfrm>
          <a:prstGeom prst="ellipse">
            <a:avLst/>
          </a:prstGeom>
          <a:solidFill>
            <a:srgbClr val="2F55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4754880" y="419709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3" name="Google Shape;133;p5"/>
          <p:cNvCxnSpPr/>
          <p:nvPr/>
        </p:nvCxnSpPr>
        <p:spPr>
          <a:xfrm>
            <a:off x="4983480" y="4654296"/>
            <a:ext cx="0" cy="475488"/>
          </a:xfrm>
          <a:prstGeom prst="straightConnector1">
            <a:avLst/>
          </a:prstGeom>
          <a:noFill/>
          <a:ln cap="flat" cmpd="sng" w="19050">
            <a:solidFill>
              <a:srgbClr val="2F55D4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34" name="Google Shape;134;p5"/>
          <p:cNvSpPr/>
          <p:nvPr/>
        </p:nvSpPr>
        <p:spPr>
          <a:xfrm>
            <a:off x="5440680" y="416052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5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A2235"/>
                </a:solidFill>
                <a:latin typeface="Calibri"/>
                <a:ea typeface="Calibri"/>
                <a:cs typeface="Calibri"/>
                <a:sym typeface="Calibri"/>
              </a:rPr>
              <a:t>Experiencia 3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5440680" y="4416552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88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C6883"/>
                </a:solidFill>
                <a:latin typeface="Calibri"/>
                <a:ea typeface="Calibri"/>
                <a:cs typeface="Calibri"/>
                <a:sym typeface="Calibri"/>
              </a:rPr>
              <a:t>Verificación de la solución y su calidad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9784080" y="4215384"/>
            <a:ext cx="1600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A8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E3AA8"/>
                </a:solidFill>
                <a:latin typeface="Calibri"/>
                <a:ea typeface="Calibri"/>
                <a:cs typeface="Calibri"/>
                <a:sym typeface="Calibri"/>
              </a:rPr>
              <a:t>Semana 15 · 35%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4754880" y="5129784"/>
            <a:ext cx="457200" cy="457200"/>
          </a:xfrm>
          <a:prstGeom prst="ellipse">
            <a:avLst/>
          </a:prstGeom>
          <a:solidFill>
            <a:srgbClr val="2F55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4754880" y="512978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5440680" y="5093208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5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A2235"/>
                </a:solidFill>
                <a:latin typeface="Calibri"/>
                <a:ea typeface="Calibri"/>
                <a:cs typeface="Calibri"/>
                <a:sym typeface="Calibri"/>
              </a:rPr>
              <a:t>Evaluación Final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5440680" y="5349240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88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C6883"/>
                </a:solidFill>
                <a:latin typeface="Calibri"/>
                <a:ea typeface="Calibri"/>
                <a:cs typeface="Calibri"/>
                <a:sym typeface="Calibri"/>
              </a:rPr>
              <a:t>Producto al 100% + informe y defensa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9784080" y="5148072"/>
            <a:ext cx="1600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A8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E3AA8"/>
                </a:solidFill>
                <a:latin typeface="Calibri"/>
                <a:ea typeface="Calibri"/>
                <a:cs typeface="Calibri"/>
                <a:sym typeface="Calibri"/>
              </a:rPr>
              <a:t>Semanas 17-18 · 40%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"/>
          <p:cNvSpPr/>
          <p:nvPr/>
        </p:nvSpPr>
        <p:spPr>
          <a:xfrm>
            <a:off x="640080" y="566928"/>
            <a:ext cx="164592" cy="164592"/>
          </a:xfrm>
          <a:prstGeom prst="rect">
            <a:avLst/>
          </a:prstGeom>
          <a:solidFill>
            <a:srgbClr val="2F55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896112" y="45720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5D4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2F55D4"/>
                </a:solidFill>
                <a:latin typeface="Calibri"/>
                <a:ea typeface="Calibri"/>
                <a:cs typeface="Calibri"/>
                <a:sym typeface="Calibri"/>
              </a:rPr>
              <a:t>QUIÉNES SOMOS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621792" y="749808"/>
            <a:ext cx="10881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5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A2235"/>
                </a:solidFill>
                <a:latin typeface="Calibri"/>
                <a:ea typeface="Calibri"/>
                <a:cs typeface="Calibri"/>
                <a:sym typeface="Calibri"/>
              </a:rPr>
              <a:t>Roles del equipo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3A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A93A8"/>
                </a:solidFill>
                <a:latin typeface="Calibri"/>
                <a:ea typeface="Calibri"/>
                <a:cs typeface="Calibri"/>
                <a:sym typeface="Calibri"/>
              </a:rPr>
              <a:t>ESCUELA DE INFORMÁTICA Y TELECOMUNICACIONES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9966960" y="6400800"/>
            <a:ext cx="159105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235"/>
                </a:solidFill>
                <a:latin typeface="Calibri"/>
                <a:ea typeface="Calibri"/>
                <a:cs typeface="Calibri"/>
                <a:sym typeface="Calibri"/>
              </a:rPr>
              <a:t>Duoc UC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640080" y="1783080"/>
            <a:ext cx="3520440" cy="3977640"/>
          </a:xfrm>
          <a:prstGeom prst="roundRect">
            <a:avLst>
              <a:gd fmla="val 2338" name="adj"/>
            </a:avLst>
          </a:prstGeom>
          <a:solidFill>
            <a:srgbClr val="FFFFFF"/>
          </a:solidFill>
          <a:ln cap="flat" cmpd="sng" w="12700">
            <a:solidFill>
              <a:srgbClr val="D6DEF2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B143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1833372" y="2194560"/>
            <a:ext cx="1133856" cy="1133856"/>
          </a:xfrm>
          <a:prstGeom prst="ellipse">
            <a:avLst/>
          </a:prstGeom>
          <a:solidFill>
            <a:srgbClr val="E9EE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54" name="Google Shape;15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89404" y="2450592"/>
            <a:ext cx="621792" cy="621792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6"/>
          <p:cNvSpPr/>
          <p:nvPr/>
        </p:nvSpPr>
        <p:spPr>
          <a:xfrm>
            <a:off x="822960" y="3474720"/>
            <a:ext cx="3154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5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A2235"/>
                </a:solidFill>
                <a:latin typeface="Calibri"/>
                <a:ea typeface="Calibri"/>
                <a:cs typeface="Calibri"/>
                <a:sym typeface="Calibri"/>
              </a:rPr>
              <a:t>Brayan Gallardo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1348740" y="3886200"/>
            <a:ext cx="2103120" cy="384048"/>
          </a:xfrm>
          <a:prstGeom prst="roundRect">
            <a:avLst>
              <a:gd fmla="val 50000" name="adj"/>
            </a:avLst>
          </a:prstGeom>
          <a:solidFill>
            <a:srgbClr val="2F55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1348740" y="3886200"/>
            <a:ext cx="2103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Product Owner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1005840" y="4480560"/>
            <a:ext cx="28803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883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5C6883"/>
                </a:solidFill>
                <a:latin typeface="Calibri"/>
                <a:ea typeface="Calibri"/>
                <a:cs typeface="Calibri"/>
                <a:sym typeface="Calibri"/>
              </a:rPr>
              <a:t>Visión del producto y priorización del backlog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5C6883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5C6883"/>
                </a:solidFill>
                <a:latin typeface="Calibri"/>
                <a:ea typeface="Calibri"/>
                <a:cs typeface="Calibri"/>
                <a:sym typeface="Calibri"/>
              </a:rPr>
              <a:t>Definición de historias de usuario y comunicación con stakeholders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4389120" y="1783080"/>
            <a:ext cx="3520440" cy="3977640"/>
          </a:xfrm>
          <a:prstGeom prst="roundRect">
            <a:avLst>
              <a:gd fmla="val 2338" name="adj"/>
            </a:avLst>
          </a:prstGeom>
          <a:solidFill>
            <a:srgbClr val="FFFFFF"/>
          </a:solidFill>
          <a:ln cap="flat" cmpd="sng" w="12700">
            <a:solidFill>
              <a:srgbClr val="D6DEF2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B143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5582412" y="2194560"/>
            <a:ext cx="1133856" cy="1133856"/>
          </a:xfrm>
          <a:prstGeom prst="ellipse">
            <a:avLst/>
          </a:prstGeom>
          <a:solidFill>
            <a:srgbClr val="E9EE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61" name="Google Shape;161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38444" y="2450592"/>
            <a:ext cx="621792" cy="62179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6"/>
          <p:cNvSpPr/>
          <p:nvPr/>
        </p:nvSpPr>
        <p:spPr>
          <a:xfrm>
            <a:off x="4572000" y="3474720"/>
            <a:ext cx="3154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5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A2235"/>
                </a:solidFill>
                <a:latin typeface="Calibri"/>
                <a:ea typeface="Calibri"/>
                <a:cs typeface="Calibri"/>
                <a:sym typeface="Calibri"/>
              </a:rPr>
              <a:t>Nicolás Parra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5097780" y="3886200"/>
            <a:ext cx="2103120" cy="384048"/>
          </a:xfrm>
          <a:prstGeom prst="roundRect">
            <a:avLst>
              <a:gd fmla="val 50000" name="adj"/>
            </a:avLst>
          </a:prstGeom>
          <a:solidFill>
            <a:srgbClr val="2F55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5097780" y="3886200"/>
            <a:ext cx="2103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Scrum Master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4754880" y="4480560"/>
            <a:ext cx="28803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883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5C6883"/>
                </a:solidFill>
                <a:latin typeface="Calibri"/>
                <a:ea typeface="Calibri"/>
                <a:cs typeface="Calibri"/>
                <a:sym typeface="Calibri"/>
              </a:rPr>
              <a:t>Facilitador ágil, coordinación de ceremonias SCRUM y eliminación de impedimentos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5C6883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5C6883"/>
                </a:solidFill>
                <a:latin typeface="Calibri"/>
                <a:ea typeface="Calibri"/>
                <a:cs typeface="Calibri"/>
                <a:sym typeface="Calibri"/>
              </a:rPr>
              <a:t>Estandarización del entorno de desarrollo y resolución de bloqueos del equipo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8138160" y="1783080"/>
            <a:ext cx="3520440" cy="3977640"/>
          </a:xfrm>
          <a:prstGeom prst="roundRect">
            <a:avLst>
              <a:gd fmla="val 2338" name="adj"/>
            </a:avLst>
          </a:prstGeom>
          <a:solidFill>
            <a:srgbClr val="FFFFFF"/>
          </a:solidFill>
          <a:ln cap="flat" cmpd="sng" w="12700">
            <a:solidFill>
              <a:srgbClr val="D6DEF2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B143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9331452" y="2194560"/>
            <a:ext cx="1133856" cy="1133856"/>
          </a:xfrm>
          <a:prstGeom prst="ellipse">
            <a:avLst/>
          </a:prstGeom>
          <a:solidFill>
            <a:srgbClr val="E9EE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68" name="Google Shape;168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87484" y="2450592"/>
            <a:ext cx="621792" cy="621792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6"/>
          <p:cNvSpPr/>
          <p:nvPr/>
        </p:nvSpPr>
        <p:spPr>
          <a:xfrm>
            <a:off x="8321040" y="3474720"/>
            <a:ext cx="3154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5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A2235"/>
                </a:solidFill>
                <a:latin typeface="Calibri"/>
                <a:ea typeface="Calibri"/>
                <a:cs typeface="Calibri"/>
                <a:sym typeface="Calibri"/>
              </a:rPr>
              <a:t>Emilio Morales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8846820" y="3886200"/>
            <a:ext cx="2103120" cy="384048"/>
          </a:xfrm>
          <a:prstGeom prst="roundRect">
            <a:avLst>
              <a:gd fmla="val 50000" name="adj"/>
            </a:avLst>
          </a:prstGeom>
          <a:solidFill>
            <a:srgbClr val="2F55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8846820" y="3886200"/>
            <a:ext cx="2103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Full Stack Developer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8503920" y="4480560"/>
            <a:ext cx="28803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883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5C6883"/>
                </a:solidFill>
                <a:latin typeface="Calibri"/>
                <a:ea typeface="Calibri"/>
                <a:cs typeface="Calibri"/>
                <a:sym typeface="Calibri"/>
              </a:rPr>
              <a:t>Diseño e implementación de frontend, backend y base de datos del proyecto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5C6883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5C6883"/>
                </a:solidFill>
                <a:latin typeface="Calibri"/>
                <a:ea typeface="Calibri"/>
                <a:cs typeface="Calibri"/>
                <a:sym typeface="Calibri"/>
              </a:rPr>
              <a:t>Integración React + Spring Boot + MySQL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7"/>
          <p:cNvSpPr/>
          <p:nvPr/>
        </p:nvSpPr>
        <p:spPr>
          <a:xfrm>
            <a:off x="640080" y="566928"/>
            <a:ext cx="164592" cy="164592"/>
          </a:xfrm>
          <a:prstGeom prst="rect">
            <a:avLst/>
          </a:prstGeom>
          <a:solidFill>
            <a:srgbClr val="2F55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896112" y="45720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5D4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2F55D4"/>
                </a:solidFill>
                <a:latin typeface="Calibri"/>
                <a:ea typeface="Calibri"/>
                <a:cs typeface="Calibri"/>
                <a:sym typeface="Calibri"/>
              </a:rPr>
              <a:t>CON QUÉ LO CONSTRUIMOS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621792" y="749808"/>
            <a:ext cx="10881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5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A2235"/>
                </a:solidFill>
                <a:latin typeface="Calibri"/>
                <a:ea typeface="Calibri"/>
                <a:cs typeface="Calibri"/>
                <a:sym typeface="Calibri"/>
              </a:rPr>
              <a:t>Stack tecnológico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3A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A93A8"/>
                </a:solidFill>
                <a:latin typeface="Calibri"/>
                <a:ea typeface="Calibri"/>
                <a:cs typeface="Calibri"/>
                <a:sym typeface="Calibri"/>
              </a:rPr>
              <a:t>ESCUELA DE INFORMÁTICA Y TELECOMUNICACIONES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9966960" y="6400800"/>
            <a:ext cx="159105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235"/>
                </a:solidFill>
                <a:latin typeface="Calibri"/>
                <a:ea typeface="Calibri"/>
                <a:cs typeface="Calibri"/>
                <a:sym typeface="Calibri"/>
              </a:rPr>
              <a:t>Duoc UC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640080" y="1691640"/>
            <a:ext cx="3520440" cy="1783080"/>
          </a:xfrm>
          <a:prstGeom prst="roundRect">
            <a:avLst>
              <a:gd fmla="val 4103" name="adj"/>
            </a:avLst>
          </a:prstGeom>
          <a:solidFill>
            <a:srgbClr val="F4F7FE"/>
          </a:solidFill>
          <a:ln cap="flat" cmpd="sng" w="12700">
            <a:solidFill>
              <a:srgbClr val="D6DE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896112" y="1965960"/>
            <a:ext cx="713232" cy="713232"/>
          </a:xfrm>
          <a:prstGeom prst="roundRect">
            <a:avLst>
              <a:gd fmla="val 15385" name="adj"/>
            </a:avLst>
          </a:prstGeom>
          <a:solidFill>
            <a:srgbClr val="2F55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85" name="Google Shape;18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9848" y="2139696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7"/>
          <p:cNvSpPr/>
          <p:nvPr/>
        </p:nvSpPr>
        <p:spPr>
          <a:xfrm>
            <a:off x="1755648" y="2002536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5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A2235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1755648" y="2368296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88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C6883"/>
                </a:solidFill>
                <a:latin typeface="Calibri"/>
                <a:ea typeface="Calibri"/>
                <a:cs typeface="Calibri"/>
                <a:sym typeface="Calibri"/>
              </a:rPr>
              <a:t>React + Vite  · HTML · CSS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4389120" y="1691640"/>
            <a:ext cx="3520440" cy="1783080"/>
          </a:xfrm>
          <a:prstGeom prst="roundRect">
            <a:avLst>
              <a:gd fmla="val 4103" name="adj"/>
            </a:avLst>
          </a:prstGeom>
          <a:solidFill>
            <a:srgbClr val="F4F7FE"/>
          </a:solidFill>
          <a:ln cap="flat" cmpd="sng" w="12700">
            <a:solidFill>
              <a:srgbClr val="D6DE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4645152" y="1965960"/>
            <a:ext cx="713232" cy="713232"/>
          </a:xfrm>
          <a:prstGeom prst="roundRect">
            <a:avLst>
              <a:gd fmla="val 15385" name="adj"/>
            </a:avLst>
          </a:prstGeom>
          <a:solidFill>
            <a:srgbClr val="2F55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90" name="Google Shape;19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18888" y="2139696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7"/>
          <p:cNvSpPr/>
          <p:nvPr/>
        </p:nvSpPr>
        <p:spPr>
          <a:xfrm>
            <a:off x="5504688" y="2002536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5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A2235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5504688" y="2368296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88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C6883"/>
                </a:solidFill>
                <a:latin typeface="Calibri"/>
                <a:ea typeface="Calibri"/>
                <a:cs typeface="Calibri"/>
                <a:sym typeface="Calibri"/>
              </a:rPr>
              <a:t>Java · Spring Boot · Spring Web · Data JPA · Spring Security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8138160" y="1691640"/>
            <a:ext cx="3520440" cy="1783080"/>
          </a:xfrm>
          <a:prstGeom prst="roundRect">
            <a:avLst>
              <a:gd fmla="val 4103" name="adj"/>
            </a:avLst>
          </a:prstGeom>
          <a:solidFill>
            <a:srgbClr val="F4F7FE"/>
          </a:solidFill>
          <a:ln cap="flat" cmpd="sng" w="12700">
            <a:solidFill>
              <a:srgbClr val="D6DE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8394192" y="1965960"/>
            <a:ext cx="713232" cy="713232"/>
          </a:xfrm>
          <a:prstGeom prst="roundRect">
            <a:avLst>
              <a:gd fmla="val 15385" name="adj"/>
            </a:avLst>
          </a:prstGeom>
          <a:solidFill>
            <a:srgbClr val="2F55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95" name="Google Shape;195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67928" y="2139696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7"/>
          <p:cNvSpPr/>
          <p:nvPr/>
        </p:nvSpPr>
        <p:spPr>
          <a:xfrm>
            <a:off x="9253728" y="2002536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5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A2235"/>
                </a:solidFill>
                <a:latin typeface="Calibri"/>
                <a:ea typeface="Calibri"/>
                <a:cs typeface="Calibri"/>
                <a:sym typeface="Calibri"/>
              </a:rPr>
              <a:t>Base de datos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9253728" y="2368296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88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C6883"/>
                </a:solidFill>
                <a:latin typeface="Calibri"/>
                <a:ea typeface="Calibri"/>
                <a:cs typeface="Calibri"/>
                <a:sym typeface="Calibri"/>
              </a:rPr>
              <a:t>MySQL (Relacional)· MySQL Driver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640080" y="3730752"/>
            <a:ext cx="3520440" cy="1783080"/>
          </a:xfrm>
          <a:prstGeom prst="roundRect">
            <a:avLst>
              <a:gd fmla="val 4103" name="adj"/>
            </a:avLst>
          </a:prstGeom>
          <a:solidFill>
            <a:srgbClr val="F4F7FE"/>
          </a:solidFill>
          <a:ln cap="flat" cmpd="sng" w="12700">
            <a:solidFill>
              <a:srgbClr val="D6DE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896112" y="4005072"/>
            <a:ext cx="713232" cy="713232"/>
          </a:xfrm>
          <a:prstGeom prst="roundRect">
            <a:avLst>
              <a:gd fmla="val 15385" name="adj"/>
            </a:avLst>
          </a:prstGeom>
          <a:solidFill>
            <a:srgbClr val="2F55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00" name="Google Shape;200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69848" y="4178808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7"/>
          <p:cNvSpPr/>
          <p:nvPr/>
        </p:nvSpPr>
        <p:spPr>
          <a:xfrm>
            <a:off x="1755648" y="4041648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5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A2235"/>
                </a:solidFill>
                <a:latin typeface="Calibri"/>
                <a:ea typeface="Calibri"/>
                <a:cs typeface="Calibri"/>
                <a:sym typeface="Calibri"/>
              </a:rPr>
              <a:t>Cloud / Despliegue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1755648" y="4407408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88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C6883"/>
                </a:solidFill>
                <a:latin typeface="Calibri"/>
                <a:ea typeface="Calibri"/>
                <a:cs typeface="Calibri"/>
                <a:sym typeface="Calibri"/>
              </a:rPr>
              <a:t>Railway (backend) · Vercel (frontend)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4389120" y="3730752"/>
            <a:ext cx="3520440" cy="1783080"/>
          </a:xfrm>
          <a:prstGeom prst="roundRect">
            <a:avLst>
              <a:gd fmla="val 4103" name="adj"/>
            </a:avLst>
          </a:prstGeom>
          <a:solidFill>
            <a:srgbClr val="F4F7FE"/>
          </a:solidFill>
          <a:ln cap="flat" cmpd="sng" w="12700">
            <a:solidFill>
              <a:srgbClr val="D6DE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4645152" y="4005072"/>
            <a:ext cx="713232" cy="713232"/>
          </a:xfrm>
          <a:prstGeom prst="roundRect">
            <a:avLst>
              <a:gd fmla="val 15385" name="adj"/>
            </a:avLst>
          </a:prstGeom>
          <a:solidFill>
            <a:srgbClr val="2F55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05" name="Google Shape;205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18888" y="4178808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7"/>
          <p:cNvSpPr/>
          <p:nvPr/>
        </p:nvSpPr>
        <p:spPr>
          <a:xfrm>
            <a:off x="5504688" y="4041648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5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A2235"/>
                </a:solidFill>
                <a:latin typeface="Calibri"/>
                <a:ea typeface="Calibri"/>
                <a:cs typeface="Calibri"/>
                <a:sym typeface="Calibri"/>
              </a:rPr>
              <a:t>Herramientas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5504688" y="4407408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88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C6883"/>
                </a:solidFill>
                <a:latin typeface="Calibri"/>
                <a:ea typeface="Calibri"/>
                <a:cs typeface="Calibri"/>
                <a:sym typeface="Calibri"/>
              </a:rPr>
              <a:t>GitHub · GitFlow · Figma · Postman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8138160" y="3730752"/>
            <a:ext cx="3520440" cy="1783080"/>
          </a:xfrm>
          <a:prstGeom prst="roundRect">
            <a:avLst>
              <a:gd fmla="val 4103" name="adj"/>
            </a:avLst>
          </a:prstGeom>
          <a:solidFill>
            <a:srgbClr val="F4F7FE"/>
          </a:solidFill>
          <a:ln cap="flat" cmpd="sng" w="12700">
            <a:solidFill>
              <a:srgbClr val="D6DE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8394192" y="4005072"/>
            <a:ext cx="713232" cy="713232"/>
          </a:xfrm>
          <a:prstGeom prst="roundRect">
            <a:avLst>
              <a:gd fmla="val 15385" name="adj"/>
            </a:avLst>
          </a:prstGeom>
          <a:solidFill>
            <a:srgbClr val="2F55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10" name="Google Shape;210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567928" y="4178808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7"/>
          <p:cNvSpPr/>
          <p:nvPr/>
        </p:nvSpPr>
        <p:spPr>
          <a:xfrm>
            <a:off x="9253728" y="4041648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5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A2235"/>
                </a:solidFill>
                <a:latin typeface="Calibri"/>
                <a:ea typeface="Calibri"/>
                <a:cs typeface="Calibri"/>
                <a:sym typeface="Calibri"/>
              </a:rPr>
              <a:t>Tecnologías disruptivas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7"/>
          <p:cNvSpPr/>
          <p:nvPr/>
        </p:nvSpPr>
        <p:spPr>
          <a:xfrm>
            <a:off x="9253728" y="4407408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88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C6883"/>
                </a:solidFill>
                <a:latin typeface="Calibri"/>
                <a:ea typeface="Calibri"/>
                <a:cs typeface="Calibri"/>
                <a:sym typeface="Calibri"/>
              </a:rPr>
              <a:t>JWT (autenticación stateless) · Spring Security · Arquitectura de Microservicios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8"/>
          <p:cNvSpPr/>
          <p:nvPr/>
        </p:nvSpPr>
        <p:spPr>
          <a:xfrm>
            <a:off x="673605" y="309453"/>
            <a:ext cx="164700" cy="164700"/>
          </a:xfrm>
          <a:prstGeom prst="rect">
            <a:avLst/>
          </a:prstGeom>
          <a:solidFill>
            <a:srgbClr val="2F55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929637" y="199725"/>
            <a:ext cx="8229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5D4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2F55D4"/>
                </a:solidFill>
                <a:latin typeface="Calibri"/>
                <a:ea typeface="Calibri"/>
                <a:cs typeface="Calibri"/>
                <a:sym typeface="Calibri"/>
              </a:rPr>
              <a:t>CÓMO SE CONECTA TODO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655342" y="385158"/>
            <a:ext cx="10881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5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A2235"/>
                </a:solidFill>
                <a:latin typeface="Calibri"/>
                <a:ea typeface="Calibri"/>
                <a:cs typeface="Calibri"/>
                <a:sym typeface="Calibri"/>
              </a:rPr>
              <a:t>Arquitectura de la solución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8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3A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A93A8"/>
                </a:solidFill>
                <a:latin typeface="Calibri"/>
                <a:ea typeface="Calibri"/>
                <a:cs typeface="Calibri"/>
                <a:sym typeface="Calibri"/>
              </a:rPr>
              <a:t>ESCUELA DE INFORMÁTICA Y TELECOMUNICACIONES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8"/>
          <p:cNvSpPr/>
          <p:nvPr/>
        </p:nvSpPr>
        <p:spPr>
          <a:xfrm>
            <a:off x="9966960" y="6400800"/>
            <a:ext cx="159105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235"/>
                </a:solidFill>
                <a:latin typeface="Calibri"/>
                <a:ea typeface="Calibri"/>
                <a:cs typeface="Calibri"/>
                <a:sym typeface="Calibri"/>
              </a:rPr>
              <a:t>Duoc UC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8"/>
          <p:cNvSpPr/>
          <p:nvPr/>
        </p:nvSpPr>
        <p:spPr>
          <a:xfrm>
            <a:off x="7793750" y="1025349"/>
            <a:ext cx="3383400" cy="4994100"/>
          </a:xfrm>
          <a:prstGeom prst="roundRect">
            <a:avLst>
              <a:gd fmla="val 2162" name="adj"/>
            </a:avLst>
          </a:prstGeom>
          <a:solidFill>
            <a:srgbClr val="FFFFFF"/>
          </a:solidFill>
          <a:ln cap="flat" cmpd="sng" w="12700">
            <a:solidFill>
              <a:srgbClr val="D6DEF2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B143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8"/>
          <p:cNvSpPr/>
          <p:nvPr/>
        </p:nvSpPr>
        <p:spPr>
          <a:xfrm>
            <a:off x="8022405" y="1236813"/>
            <a:ext cx="29262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A8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3AA8"/>
                </a:solidFill>
                <a:latin typeface="Calibri"/>
                <a:ea typeface="Calibri"/>
                <a:cs typeface="Calibri"/>
                <a:sym typeface="Calibri"/>
              </a:rPr>
              <a:t>Puntos a explicar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8031605" y="1758962"/>
            <a:ext cx="29079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883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5C6883"/>
                </a:solidFill>
                <a:latin typeface="Calibri"/>
                <a:ea typeface="Calibri"/>
                <a:cs typeface="Calibri"/>
                <a:sym typeface="Calibri"/>
              </a:rPr>
              <a:t>Arquitectura de microservicios: módulos independientes para chat, reservas y certificados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5C6883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5C6883"/>
                </a:solidFill>
                <a:latin typeface="Calibri"/>
                <a:ea typeface="Calibri"/>
                <a:cs typeface="Calibri"/>
                <a:sym typeface="Calibri"/>
              </a:rPr>
              <a:t>Frontend React (Vite) consume una API REST expuesta por Spring Boot en el backend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5C6883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5C6883"/>
                </a:solidFill>
                <a:latin typeface="Calibri"/>
                <a:ea typeface="Calibri"/>
                <a:cs typeface="Calibri"/>
                <a:sym typeface="Calibri"/>
              </a:rPr>
              <a:t>El flujo de datos pasa por Axios (HTTP) → controladores REST → servicios JPA → MySQL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5C6883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5C6883"/>
                </a:solidFill>
                <a:latin typeface="Calibri"/>
                <a:ea typeface="Calibri"/>
                <a:cs typeface="Calibri"/>
                <a:sym typeface="Calibri"/>
              </a:rPr>
              <a:t>Despliegue en Railway (backend Spring Boot) y Vercel (frontend React); control de versiones con GitFlow en GitHub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5C6883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5C6883"/>
                </a:solidFill>
                <a:latin typeface="Calibri"/>
                <a:ea typeface="Calibri"/>
                <a:cs typeface="Calibri"/>
                <a:sym typeface="Calibri"/>
              </a:rPr>
              <a:t>Autenticación con JWT y Spring Security; diseño preparado para alta concurrencia de estudiantes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6" name="Google Shape;226;p8" title="certimentor_architecture_v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000" y="709300"/>
            <a:ext cx="6411825" cy="6624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9"/>
          <p:cNvSpPr/>
          <p:nvPr/>
        </p:nvSpPr>
        <p:spPr>
          <a:xfrm>
            <a:off x="640080" y="566928"/>
            <a:ext cx="164592" cy="164592"/>
          </a:xfrm>
          <a:prstGeom prst="rect">
            <a:avLst/>
          </a:prstGeom>
          <a:solidFill>
            <a:srgbClr val="2F55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896112" y="45720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5D4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2F55D4"/>
                </a:solidFill>
                <a:latin typeface="Calibri"/>
                <a:ea typeface="Calibri"/>
                <a:cs typeface="Calibri"/>
                <a:sym typeface="Calibri"/>
              </a:rPr>
              <a:t>MODELADO Y PROTOTIPOS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9"/>
          <p:cNvSpPr/>
          <p:nvPr/>
        </p:nvSpPr>
        <p:spPr>
          <a:xfrm>
            <a:off x="621792" y="749808"/>
            <a:ext cx="10881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5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A2235"/>
                </a:solidFill>
                <a:latin typeface="Calibri"/>
                <a:ea typeface="Calibri"/>
                <a:cs typeface="Calibri"/>
                <a:sym typeface="Calibri"/>
              </a:rPr>
              <a:t>Diseño de la solución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9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3A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A93A8"/>
                </a:solidFill>
                <a:latin typeface="Calibri"/>
                <a:ea typeface="Calibri"/>
                <a:cs typeface="Calibri"/>
                <a:sym typeface="Calibri"/>
              </a:rPr>
              <a:t>ESCUELA DE INFORMÁTICA Y TELECOMUNICACIONES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9"/>
          <p:cNvSpPr/>
          <p:nvPr/>
        </p:nvSpPr>
        <p:spPr>
          <a:xfrm>
            <a:off x="9966960" y="6400800"/>
            <a:ext cx="159105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235"/>
                </a:solidFill>
                <a:latin typeface="Calibri"/>
                <a:ea typeface="Calibri"/>
                <a:cs typeface="Calibri"/>
                <a:sym typeface="Calibri"/>
              </a:rPr>
              <a:t>Duoc UC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9"/>
          <p:cNvSpPr/>
          <p:nvPr/>
        </p:nvSpPr>
        <p:spPr>
          <a:xfrm>
            <a:off x="640080" y="1408285"/>
            <a:ext cx="3520500" cy="914400"/>
          </a:xfrm>
          <a:prstGeom prst="roundRect">
            <a:avLst>
              <a:gd fmla="val 8000" name="adj"/>
            </a:avLst>
          </a:prstGeom>
          <a:solidFill>
            <a:srgbClr val="1321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38" name="Google Shape;23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1664317"/>
            <a:ext cx="420624" cy="420624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9"/>
          <p:cNvSpPr/>
          <p:nvPr/>
        </p:nvSpPr>
        <p:spPr>
          <a:xfrm>
            <a:off x="1463040" y="1572877"/>
            <a:ext cx="25146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Diagramas UML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0" name="Google Shape;240;p9" title="certimentor_use_case_uml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31000" y="142137"/>
            <a:ext cx="6207811" cy="6573727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9"/>
          <p:cNvSpPr/>
          <p:nvPr/>
        </p:nvSpPr>
        <p:spPr>
          <a:xfrm>
            <a:off x="4989025" y="1686800"/>
            <a:ext cx="800100" cy="11046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9"/>
          <p:cNvSpPr/>
          <p:nvPr/>
        </p:nvSpPr>
        <p:spPr>
          <a:xfrm>
            <a:off x="9865700" y="3051250"/>
            <a:ext cx="838200" cy="11046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9"/>
          <p:cNvSpPr/>
          <p:nvPr/>
        </p:nvSpPr>
        <p:spPr>
          <a:xfrm>
            <a:off x="4935850" y="4325838"/>
            <a:ext cx="908400" cy="11991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ec37c23744_0_67"/>
          <p:cNvSpPr/>
          <p:nvPr/>
        </p:nvSpPr>
        <p:spPr>
          <a:xfrm>
            <a:off x="640080" y="566928"/>
            <a:ext cx="164700" cy="164700"/>
          </a:xfrm>
          <a:prstGeom prst="rect">
            <a:avLst/>
          </a:prstGeom>
          <a:solidFill>
            <a:srgbClr val="2F55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g3ec37c23744_0_67"/>
          <p:cNvSpPr/>
          <p:nvPr/>
        </p:nvSpPr>
        <p:spPr>
          <a:xfrm>
            <a:off x="896112" y="457200"/>
            <a:ext cx="8229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5D4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2F55D4"/>
                </a:solidFill>
                <a:latin typeface="Calibri"/>
                <a:ea typeface="Calibri"/>
                <a:cs typeface="Calibri"/>
                <a:sym typeface="Calibri"/>
              </a:rPr>
              <a:t>MODELADO Y PROTOTIPOS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g3ec37c23744_0_67"/>
          <p:cNvSpPr/>
          <p:nvPr/>
        </p:nvSpPr>
        <p:spPr>
          <a:xfrm>
            <a:off x="621792" y="749808"/>
            <a:ext cx="10881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5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A2235"/>
                </a:solidFill>
                <a:latin typeface="Calibri"/>
                <a:ea typeface="Calibri"/>
                <a:cs typeface="Calibri"/>
                <a:sym typeface="Calibri"/>
              </a:rPr>
              <a:t>Diseño de la solución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g3ec37c23744_0_67"/>
          <p:cNvSpPr/>
          <p:nvPr/>
        </p:nvSpPr>
        <p:spPr>
          <a:xfrm>
            <a:off x="640080" y="6419088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3A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A93A8"/>
                </a:solidFill>
                <a:latin typeface="Calibri"/>
                <a:ea typeface="Calibri"/>
                <a:cs typeface="Calibri"/>
                <a:sym typeface="Calibri"/>
              </a:rPr>
              <a:t>ESCUELA DE INFORMÁTICA Y TELECOMUNICACIONES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g3ec37c23744_0_67"/>
          <p:cNvSpPr/>
          <p:nvPr/>
        </p:nvSpPr>
        <p:spPr>
          <a:xfrm>
            <a:off x="9966960" y="6400800"/>
            <a:ext cx="1591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235"/>
                </a:solidFill>
                <a:latin typeface="Calibri"/>
                <a:ea typeface="Calibri"/>
                <a:cs typeface="Calibri"/>
                <a:sym typeface="Calibri"/>
              </a:rPr>
              <a:t>Duoc UC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g3ec37c23744_0_67"/>
          <p:cNvSpPr/>
          <p:nvPr/>
        </p:nvSpPr>
        <p:spPr>
          <a:xfrm>
            <a:off x="640070" y="1390110"/>
            <a:ext cx="3520500" cy="914400"/>
          </a:xfrm>
          <a:prstGeom prst="roundRect">
            <a:avLst>
              <a:gd fmla="val 8000" name="adj"/>
            </a:avLst>
          </a:prstGeom>
          <a:solidFill>
            <a:srgbClr val="1321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55" name="Google Shape;255;g3ec37c23744_0_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390" y="1646142"/>
            <a:ext cx="420624" cy="420624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g3ec37c23744_0_67"/>
          <p:cNvSpPr/>
          <p:nvPr/>
        </p:nvSpPr>
        <p:spPr>
          <a:xfrm>
            <a:off x="1463030" y="1554702"/>
            <a:ext cx="25146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Modelo de datos (MER)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7" name="Google Shape;257;g3ec37c23744_0_6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80450" y="0"/>
            <a:ext cx="7326648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3"/>
          <p:cNvSpPr/>
          <p:nvPr/>
        </p:nvSpPr>
        <p:spPr>
          <a:xfrm>
            <a:off x="640080" y="566928"/>
            <a:ext cx="164592" cy="164592"/>
          </a:xfrm>
          <a:prstGeom prst="rect">
            <a:avLst/>
          </a:prstGeom>
          <a:solidFill>
            <a:srgbClr val="2F55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3"/>
          <p:cNvSpPr/>
          <p:nvPr/>
        </p:nvSpPr>
        <p:spPr>
          <a:xfrm>
            <a:off x="896112" y="45720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5D4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2F55D4"/>
                </a:solidFill>
                <a:latin typeface="Calibri"/>
                <a:ea typeface="Calibri"/>
                <a:cs typeface="Calibri"/>
                <a:sym typeface="Calibri"/>
              </a:rPr>
              <a:t>TRAZABILIDAD DEL TRABAJO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3"/>
          <p:cNvSpPr/>
          <p:nvPr/>
        </p:nvSpPr>
        <p:spPr>
          <a:xfrm>
            <a:off x="621792" y="749808"/>
            <a:ext cx="10881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5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A2235"/>
                </a:solidFill>
                <a:latin typeface="Calibri"/>
                <a:ea typeface="Calibri"/>
                <a:cs typeface="Calibri"/>
                <a:sym typeface="Calibri"/>
              </a:rPr>
              <a:t>Gestión de evidencias y entrega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3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3A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A93A8"/>
                </a:solidFill>
                <a:latin typeface="Calibri"/>
                <a:ea typeface="Calibri"/>
                <a:cs typeface="Calibri"/>
                <a:sym typeface="Calibri"/>
              </a:rPr>
              <a:t>ESCUELA DE INFORMÁTICA Y TELECOMUNICACIONES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3"/>
          <p:cNvSpPr/>
          <p:nvPr/>
        </p:nvSpPr>
        <p:spPr>
          <a:xfrm>
            <a:off x="9966960" y="6400800"/>
            <a:ext cx="159105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235"/>
                </a:solidFill>
                <a:latin typeface="Calibri"/>
                <a:ea typeface="Calibri"/>
                <a:cs typeface="Calibri"/>
                <a:sym typeface="Calibri"/>
              </a:rPr>
              <a:t>Duoc UC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3"/>
          <p:cNvSpPr/>
          <p:nvPr/>
        </p:nvSpPr>
        <p:spPr>
          <a:xfrm>
            <a:off x="640080" y="1691640"/>
            <a:ext cx="5349240" cy="4434840"/>
          </a:xfrm>
          <a:prstGeom prst="roundRect">
            <a:avLst>
              <a:gd fmla="val 1649" name="adj"/>
            </a:avLst>
          </a:prstGeom>
          <a:solidFill>
            <a:srgbClr val="13213F"/>
          </a:solidFill>
          <a:ln>
            <a:noFill/>
          </a:ln>
          <a:effectLst>
            <a:outerShdw blurRad="114300" rotWithShape="0" algn="bl" dir="5400000" dist="38100">
              <a:srgbClr val="0B143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69" name="Google Shape;26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193852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13"/>
          <p:cNvSpPr/>
          <p:nvPr/>
        </p:nvSpPr>
        <p:spPr>
          <a:xfrm>
            <a:off x="1463040" y="1938528"/>
            <a:ext cx="4297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Repositorio en GitHub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3"/>
          <p:cNvSpPr/>
          <p:nvPr/>
        </p:nvSpPr>
        <p:spPr>
          <a:xfrm>
            <a:off x="914400" y="2514600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DB2F2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9DB2F2"/>
                </a:solidFill>
                <a:latin typeface="Calibri"/>
                <a:ea typeface="Calibri"/>
                <a:cs typeface="Calibri"/>
                <a:sym typeface="Calibri"/>
              </a:rPr>
              <a:t>https://github.com/German-MoralesR/CertiMentor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3"/>
          <p:cNvSpPr/>
          <p:nvPr/>
        </p:nvSpPr>
        <p:spPr>
          <a:xfrm>
            <a:off x="914400" y="3063240"/>
            <a:ext cx="4846320" cy="2834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E4F7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DCE4F7"/>
                </a:solidFill>
                <a:latin typeface="Calibri"/>
                <a:ea typeface="Calibri"/>
                <a:cs typeface="Calibri"/>
                <a:sym typeface="Calibri"/>
              </a:rPr>
              <a:t>Historial de commits del equipo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DCE4F7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DCE4F7"/>
                </a:solidFill>
                <a:latin typeface="Calibri"/>
                <a:ea typeface="Calibri"/>
                <a:cs typeface="Calibri"/>
                <a:sym typeface="Calibri"/>
              </a:rPr>
              <a:t>Ramas y control de versiones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DCE4F7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DCE4F7"/>
                </a:solidFill>
                <a:latin typeface="Calibri"/>
                <a:ea typeface="Calibri"/>
                <a:cs typeface="Calibri"/>
                <a:sym typeface="Calibri"/>
              </a:rPr>
              <a:t>Documentación de avance del proyecto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DCE4F7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DCE4F7"/>
                </a:solidFill>
                <a:latin typeface="Calibri"/>
                <a:ea typeface="Calibri"/>
                <a:cs typeface="Calibri"/>
                <a:sym typeface="Calibri"/>
              </a:rPr>
              <a:t>Código fuente, librerías y scripts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3"/>
          <p:cNvSpPr/>
          <p:nvPr/>
        </p:nvSpPr>
        <p:spPr>
          <a:xfrm>
            <a:off x="6309360" y="1691640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A8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3AA8"/>
                </a:solidFill>
                <a:latin typeface="Calibri"/>
                <a:ea typeface="Calibri"/>
                <a:cs typeface="Calibri"/>
                <a:sym typeface="Calibri"/>
              </a:rPr>
              <a:t>Entrega final 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3"/>
          <p:cNvSpPr/>
          <p:nvPr/>
        </p:nvSpPr>
        <p:spPr>
          <a:xfrm>
            <a:off x="6309360" y="2194560"/>
            <a:ext cx="5212080" cy="1280160"/>
          </a:xfrm>
          <a:prstGeom prst="roundRect">
            <a:avLst>
              <a:gd fmla="val 5714" name="adj"/>
            </a:avLst>
          </a:prstGeom>
          <a:solidFill>
            <a:srgbClr val="F4F7FE"/>
          </a:solidFill>
          <a:ln cap="flat" cmpd="sng" w="12700">
            <a:solidFill>
              <a:srgbClr val="D6DE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13"/>
          <p:cNvSpPr/>
          <p:nvPr/>
        </p:nvSpPr>
        <p:spPr>
          <a:xfrm>
            <a:off x="6510528" y="2505456"/>
            <a:ext cx="658368" cy="658368"/>
          </a:xfrm>
          <a:prstGeom prst="roundRect">
            <a:avLst>
              <a:gd fmla="val 13889" name="adj"/>
            </a:avLst>
          </a:prstGeom>
          <a:solidFill>
            <a:srgbClr val="2F55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76" name="Google Shape;27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5976" y="2660904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13"/>
          <p:cNvSpPr/>
          <p:nvPr/>
        </p:nvSpPr>
        <p:spPr>
          <a:xfrm>
            <a:off x="7315200" y="2359152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5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A2235"/>
                </a:solidFill>
                <a:latin typeface="Calibri"/>
                <a:ea typeface="Calibri"/>
                <a:cs typeface="Calibri"/>
                <a:sym typeface="Calibri"/>
              </a:rPr>
              <a:t>Documentación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3"/>
          <p:cNvSpPr/>
          <p:nvPr/>
        </p:nvSpPr>
        <p:spPr>
          <a:xfrm>
            <a:off x="7315200" y="2724912"/>
            <a:ext cx="40690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88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C6883"/>
                </a:solidFill>
                <a:latin typeface="Calibri"/>
                <a:ea typeface="Calibri"/>
                <a:cs typeface="Calibri"/>
                <a:sym typeface="Calibri"/>
              </a:rPr>
              <a:t>Informe, UML, WireFrame, MER, Gantt, Bitacora</a:t>
            </a:r>
            <a:r>
              <a:rPr lang="en-US" sz="1100">
                <a:solidFill>
                  <a:srgbClr val="5C6883"/>
                </a:solidFill>
                <a:latin typeface="Calibri"/>
                <a:ea typeface="Calibri"/>
                <a:cs typeface="Calibri"/>
                <a:sym typeface="Calibri"/>
              </a:rPr>
              <a:t> Sprints, Definition of Done, </a:t>
            </a:r>
            <a:r>
              <a:rPr lang="en-US" sz="1100">
                <a:solidFill>
                  <a:srgbClr val="5C6883"/>
                </a:solidFill>
                <a:latin typeface="Calibri"/>
                <a:ea typeface="Calibri"/>
                <a:cs typeface="Calibri"/>
                <a:sym typeface="Calibri"/>
              </a:rPr>
              <a:t>Mapeos de Actores, Product Backlog</a:t>
            </a:r>
            <a:r>
              <a:rPr b="0" i="0" lang="en-US" sz="1100" u="none" cap="none" strike="noStrike">
                <a:solidFill>
                  <a:srgbClr val="5C6883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3"/>
          <p:cNvSpPr/>
          <p:nvPr/>
        </p:nvSpPr>
        <p:spPr>
          <a:xfrm>
            <a:off x="6309360" y="3611880"/>
            <a:ext cx="5212080" cy="1280160"/>
          </a:xfrm>
          <a:prstGeom prst="roundRect">
            <a:avLst>
              <a:gd fmla="val 5714" name="adj"/>
            </a:avLst>
          </a:prstGeom>
          <a:solidFill>
            <a:srgbClr val="F4F7FE"/>
          </a:solidFill>
          <a:ln cap="flat" cmpd="sng" w="12700">
            <a:solidFill>
              <a:srgbClr val="D6DE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13"/>
          <p:cNvSpPr/>
          <p:nvPr/>
        </p:nvSpPr>
        <p:spPr>
          <a:xfrm>
            <a:off x="6510528" y="3922776"/>
            <a:ext cx="658368" cy="658368"/>
          </a:xfrm>
          <a:prstGeom prst="roundRect">
            <a:avLst>
              <a:gd fmla="val 13889" name="adj"/>
            </a:avLst>
          </a:prstGeom>
          <a:solidFill>
            <a:srgbClr val="2F55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81" name="Google Shape;281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65976" y="4078224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13"/>
          <p:cNvSpPr/>
          <p:nvPr/>
        </p:nvSpPr>
        <p:spPr>
          <a:xfrm>
            <a:off x="7315200" y="3776472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5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A2235"/>
                </a:solidFill>
                <a:latin typeface="Calibri"/>
                <a:ea typeface="Calibri"/>
                <a:cs typeface="Calibri"/>
                <a:sym typeface="Calibri"/>
              </a:rPr>
              <a:t>Producto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3"/>
          <p:cNvSpPr/>
          <p:nvPr/>
        </p:nvSpPr>
        <p:spPr>
          <a:xfrm>
            <a:off x="7315200" y="4142232"/>
            <a:ext cx="40690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88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C6883"/>
                </a:solidFill>
                <a:latin typeface="Calibri"/>
                <a:ea typeface="Calibri"/>
                <a:cs typeface="Calibri"/>
                <a:sym typeface="Calibri"/>
              </a:rPr>
              <a:t>Script (tablas, P.A. y datos de prueba), código fuente</a:t>
            </a:r>
            <a:r>
              <a:rPr lang="en-US" sz="1100">
                <a:solidFill>
                  <a:srgbClr val="5C688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4"/>
          <p:cNvSpPr/>
          <p:nvPr/>
        </p:nvSpPr>
        <p:spPr>
          <a:xfrm>
            <a:off x="640080" y="566928"/>
            <a:ext cx="164700" cy="164700"/>
          </a:xfrm>
          <a:prstGeom prst="rect">
            <a:avLst/>
          </a:prstGeom>
          <a:solidFill>
            <a:srgbClr val="2F55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14"/>
          <p:cNvSpPr/>
          <p:nvPr/>
        </p:nvSpPr>
        <p:spPr>
          <a:xfrm>
            <a:off x="896112" y="457200"/>
            <a:ext cx="8229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5D4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2F55D4"/>
                </a:solidFill>
                <a:latin typeface="Calibri"/>
                <a:ea typeface="Calibri"/>
                <a:cs typeface="Calibri"/>
                <a:sym typeface="Calibri"/>
              </a:rPr>
              <a:t>CÓMO GENERA VALOR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4"/>
          <p:cNvSpPr/>
          <p:nvPr/>
        </p:nvSpPr>
        <p:spPr>
          <a:xfrm>
            <a:off x="621792" y="749808"/>
            <a:ext cx="10881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5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A2235"/>
                </a:solidFill>
                <a:latin typeface="Calibri"/>
                <a:ea typeface="Calibri"/>
                <a:cs typeface="Calibri"/>
                <a:sym typeface="Calibri"/>
              </a:rPr>
              <a:t>Modelo de negocio y monetización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4"/>
          <p:cNvSpPr/>
          <p:nvPr/>
        </p:nvSpPr>
        <p:spPr>
          <a:xfrm>
            <a:off x="640080" y="6419088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3A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A93A8"/>
                </a:solidFill>
                <a:latin typeface="Calibri"/>
                <a:ea typeface="Calibri"/>
                <a:cs typeface="Calibri"/>
                <a:sym typeface="Calibri"/>
              </a:rPr>
              <a:t>ESCUELA DE INFORMÁTICA Y TELECOMUNICACIONES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4"/>
          <p:cNvSpPr/>
          <p:nvPr/>
        </p:nvSpPr>
        <p:spPr>
          <a:xfrm>
            <a:off x="9966960" y="6400800"/>
            <a:ext cx="1591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235"/>
                </a:solidFill>
                <a:latin typeface="Calibri"/>
                <a:ea typeface="Calibri"/>
                <a:cs typeface="Calibri"/>
                <a:sym typeface="Calibri"/>
              </a:rPr>
              <a:t>Duoc UC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4"/>
          <p:cNvSpPr/>
          <p:nvPr/>
        </p:nvSpPr>
        <p:spPr>
          <a:xfrm>
            <a:off x="655368" y="1357968"/>
            <a:ext cx="82296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A8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E3AA8"/>
                </a:solidFill>
                <a:latin typeface="Calibri"/>
                <a:ea typeface="Calibri"/>
                <a:cs typeface="Calibri"/>
                <a:sym typeface="Calibri"/>
              </a:rPr>
              <a:t>¿Cómo generará ingresos la aplicación?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4"/>
          <p:cNvSpPr/>
          <p:nvPr/>
        </p:nvSpPr>
        <p:spPr>
          <a:xfrm>
            <a:off x="655367" y="1678008"/>
            <a:ext cx="3529500" cy="822900"/>
          </a:xfrm>
          <a:prstGeom prst="roundRect">
            <a:avLst>
              <a:gd fmla="val 7778" name="adj"/>
            </a:avLst>
          </a:prstGeom>
          <a:solidFill>
            <a:srgbClr val="F4F7FE"/>
          </a:solidFill>
          <a:ln cap="flat" cmpd="sng" w="12700">
            <a:solidFill>
              <a:srgbClr val="D6DE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14"/>
          <p:cNvSpPr/>
          <p:nvPr/>
        </p:nvSpPr>
        <p:spPr>
          <a:xfrm>
            <a:off x="838248" y="1860888"/>
            <a:ext cx="457200" cy="457200"/>
          </a:xfrm>
          <a:prstGeom prst="roundRect">
            <a:avLst>
              <a:gd fmla="val 20000" name="adj"/>
            </a:avLst>
          </a:prstGeom>
          <a:solidFill>
            <a:srgbClr val="2F55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97" name="Google Shape;29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7975" y="1970616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14"/>
          <p:cNvSpPr/>
          <p:nvPr/>
        </p:nvSpPr>
        <p:spPr>
          <a:xfrm>
            <a:off x="1423464" y="1806024"/>
            <a:ext cx="26151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5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A2235"/>
                </a:solidFill>
                <a:latin typeface="Calibri"/>
                <a:ea typeface="Calibri"/>
                <a:cs typeface="Calibri"/>
                <a:sym typeface="Calibri"/>
              </a:rPr>
              <a:t>Suscripción (SaaS)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4"/>
          <p:cNvSpPr/>
          <p:nvPr/>
        </p:nvSpPr>
        <p:spPr>
          <a:xfrm>
            <a:off x="1423464" y="2098632"/>
            <a:ext cx="26151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88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C6883"/>
                </a:solidFill>
                <a:latin typeface="Calibri"/>
                <a:ea typeface="Calibri"/>
                <a:cs typeface="Calibri"/>
                <a:sym typeface="Calibri"/>
              </a:rPr>
              <a:t>Pago recurrente mensual o anual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4"/>
          <p:cNvSpPr/>
          <p:nvPr/>
        </p:nvSpPr>
        <p:spPr>
          <a:xfrm>
            <a:off x="4331256" y="1678008"/>
            <a:ext cx="3529500" cy="822900"/>
          </a:xfrm>
          <a:prstGeom prst="roundRect">
            <a:avLst>
              <a:gd fmla="val 7778" name="adj"/>
            </a:avLst>
          </a:prstGeom>
          <a:solidFill>
            <a:srgbClr val="F4F7FE"/>
          </a:solidFill>
          <a:ln cap="flat" cmpd="sng" w="12700">
            <a:solidFill>
              <a:srgbClr val="D6DE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14"/>
          <p:cNvSpPr/>
          <p:nvPr/>
        </p:nvSpPr>
        <p:spPr>
          <a:xfrm>
            <a:off x="4514136" y="1860888"/>
            <a:ext cx="457200" cy="457200"/>
          </a:xfrm>
          <a:prstGeom prst="roundRect">
            <a:avLst>
              <a:gd fmla="val 20000" name="adj"/>
            </a:avLst>
          </a:prstGeom>
          <a:solidFill>
            <a:srgbClr val="2F55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02" name="Google Shape;30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23864" y="1970616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14"/>
          <p:cNvSpPr/>
          <p:nvPr/>
        </p:nvSpPr>
        <p:spPr>
          <a:xfrm>
            <a:off x="5099352" y="1806024"/>
            <a:ext cx="26151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5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A2235"/>
                </a:solidFill>
                <a:latin typeface="Calibri"/>
                <a:ea typeface="Calibri"/>
                <a:cs typeface="Calibri"/>
                <a:sym typeface="Calibri"/>
              </a:rPr>
              <a:t>Freemium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4"/>
          <p:cNvSpPr/>
          <p:nvPr/>
        </p:nvSpPr>
        <p:spPr>
          <a:xfrm>
            <a:off x="5099352" y="2098632"/>
            <a:ext cx="26151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88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C6883"/>
                </a:solidFill>
                <a:latin typeface="Calibri"/>
                <a:ea typeface="Calibri"/>
                <a:cs typeface="Calibri"/>
                <a:sym typeface="Calibri"/>
              </a:rPr>
              <a:t>Gratis base + funciones de pago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4"/>
          <p:cNvSpPr/>
          <p:nvPr/>
        </p:nvSpPr>
        <p:spPr>
          <a:xfrm>
            <a:off x="8007144" y="1678008"/>
            <a:ext cx="3529500" cy="822900"/>
          </a:xfrm>
          <a:prstGeom prst="roundRect">
            <a:avLst>
              <a:gd fmla="val 7778" name="adj"/>
            </a:avLst>
          </a:prstGeom>
          <a:solidFill>
            <a:srgbClr val="F4F7FE"/>
          </a:solidFill>
          <a:ln cap="flat" cmpd="sng" w="12700">
            <a:solidFill>
              <a:srgbClr val="D6DE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14"/>
          <p:cNvSpPr/>
          <p:nvPr/>
        </p:nvSpPr>
        <p:spPr>
          <a:xfrm>
            <a:off x="8190024" y="1860888"/>
            <a:ext cx="457200" cy="457200"/>
          </a:xfrm>
          <a:prstGeom prst="roundRect">
            <a:avLst>
              <a:gd fmla="val 20000" name="adj"/>
            </a:avLst>
          </a:prstGeom>
          <a:solidFill>
            <a:srgbClr val="2F55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07" name="Google Shape;30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99752" y="1970616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14"/>
          <p:cNvSpPr/>
          <p:nvPr/>
        </p:nvSpPr>
        <p:spPr>
          <a:xfrm>
            <a:off x="8775240" y="1806024"/>
            <a:ext cx="26151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5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A2235"/>
                </a:solidFill>
                <a:latin typeface="Calibri"/>
                <a:ea typeface="Calibri"/>
                <a:cs typeface="Calibri"/>
                <a:sym typeface="Calibri"/>
              </a:rPr>
              <a:t>Pago único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4"/>
          <p:cNvSpPr/>
          <p:nvPr/>
        </p:nvSpPr>
        <p:spPr>
          <a:xfrm>
            <a:off x="8775240" y="2098632"/>
            <a:ext cx="26151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88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C6883"/>
                </a:solidFill>
                <a:latin typeface="Calibri"/>
                <a:ea typeface="Calibri"/>
                <a:cs typeface="Calibri"/>
                <a:sym typeface="Calibri"/>
              </a:rPr>
              <a:t>Licencia o compra por una vez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4"/>
          <p:cNvSpPr/>
          <p:nvPr/>
        </p:nvSpPr>
        <p:spPr>
          <a:xfrm>
            <a:off x="655367" y="2665560"/>
            <a:ext cx="3529500" cy="822900"/>
          </a:xfrm>
          <a:prstGeom prst="roundRect">
            <a:avLst>
              <a:gd fmla="val 7778" name="adj"/>
            </a:avLst>
          </a:prstGeom>
          <a:solidFill>
            <a:srgbClr val="F4F7FE"/>
          </a:solidFill>
          <a:ln cap="flat" cmpd="sng" w="12700">
            <a:solidFill>
              <a:srgbClr val="D6DE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14"/>
          <p:cNvSpPr/>
          <p:nvPr/>
        </p:nvSpPr>
        <p:spPr>
          <a:xfrm>
            <a:off x="838248" y="2848439"/>
            <a:ext cx="457200" cy="457200"/>
          </a:xfrm>
          <a:prstGeom prst="roundRect">
            <a:avLst>
              <a:gd fmla="val 20000" name="adj"/>
            </a:avLst>
          </a:prstGeom>
          <a:solidFill>
            <a:srgbClr val="2F55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12" name="Google Shape;312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47975" y="295816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14"/>
          <p:cNvSpPr/>
          <p:nvPr/>
        </p:nvSpPr>
        <p:spPr>
          <a:xfrm>
            <a:off x="1423464" y="2793576"/>
            <a:ext cx="26151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5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A2235"/>
                </a:solidFill>
                <a:latin typeface="Calibri"/>
                <a:ea typeface="Calibri"/>
                <a:cs typeface="Calibri"/>
                <a:sym typeface="Calibri"/>
              </a:rPr>
              <a:t>Publicidad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4"/>
          <p:cNvSpPr/>
          <p:nvPr/>
        </p:nvSpPr>
        <p:spPr>
          <a:xfrm>
            <a:off x="1423464" y="3086184"/>
            <a:ext cx="26151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88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C6883"/>
                </a:solidFill>
                <a:latin typeface="Calibri"/>
                <a:ea typeface="Calibri"/>
                <a:cs typeface="Calibri"/>
                <a:sym typeface="Calibri"/>
              </a:rPr>
              <a:t>Ingresos por avisos en la app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4"/>
          <p:cNvSpPr/>
          <p:nvPr/>
        </p:nvSpPr>
        <p:spPr>
          <a:xfrm>
            <a:off x="4331256" y="2665560"/>
            <a:ext cx="3529500" cy="822900"/>
          </a:xfrm>
          <a:prstGeom prst="roundRect">
            <a:avLst>
              <a:gd fmla="val 7777" name="adj"/>
            </a:avLst>
          </a:prstGeom>
          <a:solidFill>
            <a:srgbClr val="E8EDFB"/>
          </a:solidFill>
          <a:ln cap="flat" cmpd="sng" w="23825">
            <a:solidFill>
              <a:srgbClr val="2F55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14"/>
          <p:cNvSpPr/>
          <p:nvPr/>
        </p:nvSpPr>
        <p:spPr>
          <a:xfrm>
            <a:off x="4514136" y="2848439"/>
            <a:ext cx="457200" cy="457200"/>
          </a:xfrm>
          <a:prstGeom prst="roundRect">
            <a:avLst>
              <a:gd fmla="val 20000" name="adj"/>
            </a:avLst>
          </a:prstGeom>
          <a:solidFill>
            <a:srgbClr val="2F55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17" name="Google Shape;317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23864" y="295816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14"/>
          <p:cNvSpPr/>
          <p:nvPr/>
        </p:nvSpPr>
        <p:spPr>
          <a:xfrm>
            <a:off x="5099352" y="2793576"/>
            <a:ext cx="26151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5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A2235"/>
                </a:solidFill>
                <a:latin typeface="Calibri"/>
                <a:ea typeface="Calibri"/>
                <a:cs typeface="Calibri"/>
                <a:sym typeface="Calibri"/>
              </a:rPr>
              <a:t>Marketplace / comisión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4"/>
          <p:cNvSpPr/>
          <p:nvPr/>
        </p:nvSpPr>
        <p:spPr>
          <a:xfrm>
            <a:off x="5099352" y="3086184"/>
            <a:ext cx="26151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88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C6883"/>
                </a:solidFill>
                <a:latin typeface="Calibri"/>
                <a:ea typeface="Calibri"/>
                <a:cs typeface="Calibri"/>
                <a:sym typeface="Calibri"/>
              </a:rPr>
              <a:t>% por transacción entre usuarios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4"/>
          <p:cNvSpPr/>
          <p:nvPr/>
        </p:nvSpPr>
        <p:spPr>
          <a:xfrm>
            <a:off x="8007144" y="2665560"/>
            <a:ext cx="3529500" cy="822900"/>
          </a:xfrm>
          <a:prstGeom prst="roundRect">
            <a:avLst>
              <a:gd fmla="val 7778" name="adj"/>
            </a:avLst>
          </a:prstGeom>
          <a:solidFill>
            <a:srgbClr val="F4F7FE"/>
          </a:solidFill>
          <a:ln cap="flat" cmpd="sng" w="12700">
            <a:solidFill>
              <a:srgbClr val="D6DE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4"/>
          <p:cNvSpPr/>
          <p:nvPr/>
        </p:nvSpPr>
        <p:spPr>
          <a:xfrm>
            <a:off x="8190024" y="2848439"/>
            <a:ext cx="457200" cy="457200"/>
          </a:xfrm>
          <a:prstGeom prst="roundRect">
            <a:avLst>
              <a:gd fmla="val 20000" name="adj"/>
            </a:avLst>
          </a:prstGeom>
          <a:solidFill>
            <a:srgbClr val="2F55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22" name="Google Shape;322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299752" y="295816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14"/>
          <p:cNvSpPr/>
          <p:nvPr/>
        </p:nvSpPr>
        <p:spPr>
          <a:xfrm>
            <a:off x="8775240" y="2793576"/>
            <a:ext cx="26151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5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A2235"/>
                </a:solidFill>
                <a:latin typeface="Calibri"/>
                <a:ea typeface="Calibri"/>
                <a:cs typeface="Calibri"/>
                <a:sym typeface="Calibri"/>
              </a:rPr>
              <a:t>Compras in-app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4"/>
          <p:cNvSpPr/>
          <p:nvPr/>
        </p:nvSpPr>
        <p:spPr>
          <a:xfrm>
            <a:off x="8775240" y="3086184"/>
            <a:ext cx="26151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88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C6883"/>
                </a:solidFill>
                <a:latin typeface="Calibri"/>
                <a:ea typeface="Calibri"/>
                <a:cs typeface="Calibri"/>
                <a:sym typeface="Calibri"/>
              </a:rPr>
              <a:t>Ítems o niveles dentro de la app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4"/>
          <p:cNvSpPr/>
          <p:nvPr/>
        </p:nvSpPr>
        <p:spPr>
          <a:xfrm>
            <a:off x="640075" y="3754388"/>
            <a:ext cx="5349300" cy="2372100"/>
          </a:xfrm>
          <a:prstGeom prst="roundRect">
            <a:avLst>
              <a:gd fmla="val 3636" name="adj"/>
            </a:avLst>
          </a:prstGeom>
          <a:solidFill>
            <a:srgbClr val="FFFFFF"/>
          </a:solidFill>
          <a:ln cap="flat" cmpd="sng" w="12700">
            <a:solidFill>
              <a:srgbClr val="D6DEF2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B143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14"/>
          <p:cNvSpPr/>
          <p:nvPr/>
        </p:nvSpPr>
        <p:spPr>
          <a:xfrm>
            <a:off x="947987" y="3810843"/>
            <a:ext cx="48921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A8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3AA8"/>
                </a:solidFill>
                <a:latin typeface="Calibri"/>
                <a:ea typeface="Calibri"/>
                <a:cs typeface="Calibri"/>
                <a:sym typeface="Calibri"/>
              </a:rPr>
              <a:t>Mercado objetivo y propuesta de valor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4"/>
          <p:cNvSpPr/>
          <p:nvPr/>
        </p:nvSpPr>
        <p:spPr>
          <a:xfrm>
            <a:off x="877825" y="4118823"/>
            <a:ext cx="4873800" cy="1815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883"/>
                </a:solidFill>
                <a:latin typeface="Calibri"/>
                <a:ea typeface="Calibri"/>
                <a:cs typeface="Calibri"/>
                <a:sym typeface="Calibri"/>
              </a:rPr>
              <a:t>Modelo de </a:t>
            </a:r>
            <a:r>
              <a:rPr b="1" i="0" lang="en-US" sz="1100" u="none" cap="none" strike="noStrike">
                <a:solidFill>
                  <a:srgbClr val="5C6883"/>
                </a:solidFill>
                <a:latin typeface="Calibri"/>
                <a:ea typeface="Calibri"/>
                <a:cs typeface="Calibri"/>
                <a:sym typeface="Calibri"/>
              </a:rPr>
              <a:t>Marketplace con Comisión</a:t>
            </a:r>
            <a:r>
              <a:rPr b="0" i="0" lang="en-US" sz="1100" u="none" cap="none" strike="noStrike">
                <a:solidFill>
                  <a:srgbClr val="5C6883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b="0" i="0" sz="1100" u="none" cap="none" strike="noStrike">
              <a:solidFill>
                <a:srgbClr val="5C688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5C6883"/>
              </a:buClr>
              <a:buSzPts val="1100"/>
              <a:buFont typeface="Calibri"/>
              <a:buChar char="●"/>
            </a:pPr>
            <a:r>
              <a:rPr b="0" i="0" lang="en-US" sz="1100" u="none" cap="none" strike="noStrike">
                <a:solidFill>
                  <a:srgbClr val="5C6883"/>
                </a:solidFill>
                <a:latin typeface="Calibri"/>
                <a:ea typeface="Calibri"/>
                <a:cs typeface="Calibri"/>
                <a:sym typeface="Calibri"/>
              </a:rPr>
              <a:t>Cada mentor define su propio precio dentro de un rango según la valoración de su trabajo.</a:t>
            </a:r>
            <a:endParaRPr b="0" i="0" sz="1100" u="none" cap="none" strike="noStrike">
              <a:solidFill>
                <a:srgbClr val="5C688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5C6883"/>
              </a:buClr>
              <a:buSzPts val="1100"/>
              <a:buFont typeface="Calibri"/>
              <a:buChar char="●"/>
            </a:pPr>
            <a:r>
              <a:rPr b="0" i="0" lang="en-US" sz="1100" u="none" cap="none" strike="noStrike">
                <a:solidFill>
                  <a:srgbClr val="5C6883"/>
                </a:solidFill>
                <a:latin typeface="Calibri"/>
                <a:ea typeface="Calibri"/>
                <a:cs typeface="Calibri"/>
                <a:sym typeface="Calibri"/>
              </a:rPr>
              <a:t>El estudiante realiza el pago íntegro al momento de agendar la mentoría.</a:t>
            </a:r>
            <a:endParaRPr b="0" i="0" sz="1100" u="none" cap="none" strike="noStrike">
              <a:solidFill>
                <a:srgbClr val="5C688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5C6883"/>
              </a:buClr>
              <a:buSzPts val="1100"/>
              <a:buFont typeface="Calibri"/>
              <a:buChar char="●"/>
            </a:pPr>
            <a:r>
              <a:rPr b="0" i="0" lang="en-US" sz="1100" u="none" cap="none" strike="noStrike">
                <a:solidFill>
                  <a:srgbClr val="5C6883"/>
                </a:solidFill>
                <a:latin typeface="Calibri"/>
                <a:ea typeface="Calibri"/>
                <a:cs typeface="Calibri"/>
                <a:sym typeface="Calibri"/>
              </a:rPr>
              <a:t>La plataforma retiene una comisión por cada transacción exitosa como cargo por servicio.</a:t>
            </a:r>
            <a:endParaRPr b="0" i="0" sz="1100" u="none" cap="none" strike="noStrike">
              <a:solidFill>
                <a:srgbClr val="5C688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5C6883"/>
              </a:buClr>
              <a:buSzPts val="1100"/>
              <a:buFont typeface="Calibri"/>
              <a:buChar char="●"/>
            </a:pPr>
            <a:r>
              <a:rPr b="1" i="0" lang="en-US" sz="1100" u="none" cap="none" strike="noStrike">
                <a:solidFill>
                  <a:srgbClr val="5C6883"/>
                </a:solidFill>
                <a:latin typeface="Calibri"/>
                <a:ea typeface="Calibri"/>
                <a:cs typeface="Calibri"/>
                <a:sym typeface="Calibri"/>
              </a:rPr>
              <a:t>Pasarela de pago: </a:t>
            </a:r>
            <a:r>
              <a:rPr b="0" i="0" lang="en-US" sz="1100" u="none" cap="none" strike="noStrike">
                <a:solidFill>
                  <a:srgbClr val="5C6883"/>
                </a:solidFill>
                <a:latin typeface="Calibri"/>
                <a:ea typeface="Calibri"/>
                <a:cs typeface="Calibri"/>
                <a:sym typeface="Calibri"/>
              </a:rPr>
              <a:t>MercadoPago (Chile) — integración nativa con tarjetas de crédito/débito, transferencias y billetera digital</a:t>
            </a:r>
            <a:r>
              <a:rPr lang="en-US" sz="1100">
                <a:solidFill>
                  <a:srgbClr val="5C688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100" u="none" cap="none" strike="noStrike">
              <a:solidFill>
                <a:srgbClr val="5C688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4"/>
          <p:cNvSpPr/>
          <p:nvPr/>
        </p:nvSpPr>
        <p:spPr>
          <a:xfrm>
            <a:off x="6290910" y="3726275"/>
            <a:ext cx="5212200" cy="29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E3AA8"/>
                </a:solidFill>
                <a:latin typeface="Calibri"/>
                <a:ea typeface="Calibri"/>
                <a:cs typeface="Calibri"/>
                <a:sym typeface="Calibri"/>
              </a:rPr>
              <a:t>Esquema de Comisiones (Ejemplo)</a:t>
            </a:r>
            <a:endParaRPr b="1" i="0" sz="1350" u="none" cap="none" strike="noStrike">
              <a:solidFill>
                <a:srgbClr val="1E3AA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4"/>
          <p:cNvSpPr/>
          <p:nvPr/>
        </p:nvSpPr>
        <p:spPr>
          <a:xfrm>
            <a:off x="6290900" y="4154900"/>
            <a:ext cx="1627500" cy="1031700"/>
          </a:xfrm>
          <a:prstGeom prst="roundRect">
            <a:avLst>
              <a:gd fmla="val 5063" name="adj"/>
            </a:avLst>
          </a:prstGeom>
          <a:solidFill>
            <a:srgbClr val="F4F7FE"/>
          </a:solidFill>
          <a:ln cap="flat" cmpd="sng" w="12700">
            <a:solidFill>
              <a:srgbClr val="D6DE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14"/>
          <p:cNvSpPr/>
          <p:nvPr/>
        </p:nvSpPr>
        <p:spPr>
          <a:xfrm>
            <a:off x="6290910" y="4208599"/>
            <a:ext cx="1627500" cy="502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2F55D4"/>
                </a:solidFill>
                <a:latin typeface="Calibri"/>
                <a:ea typeface="Calibri"/>
                <a:cs typeface="Calibri"/>
                <a:sym typeface="Calibri"/>
              </a:rPr>
              <a:t>$5.000 - $10.000</a:t>
            </a:r>
            <a:endParaRPr b="1" i="0" sz="1650" u="none" cap="none" strike="noStrike">
              <a:solidFill>
                <a:srgbClr val="2F55D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4"/>
          <p:cNvSpPr/>
          <p:nvPr/>
        </p:nvSpPr>
        <p:spPr>
          <a:xfrm>
            <a:off x="6363962" y="4702239"/>
            <a:ext cx="1481400" cy="411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5C6883"/>
                </a:solidFill>
                <a:latin typeface="Calibri"/>
                <a:ea typeface="Calibri"/>
                <a:cs typeface="Calibri"/>
                <a:sym typeface="Calibri"/>
              </a:rPr>
              <a:t>Rango por sesión</a:t>
            </a:r>
            <a:br>
              <a:rPr b="0" i="0" lang="en-US" sz="950" u="none" cap="none" strike="noStrike">
                <a:solidFill>
                  <a:srgbClr val="5C688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50" u="none" cap="none" strike="noStrike">
                <a:solidFill>
                  <a:srgbClr val="5C6883"/>
                </a:solidFill>
                <a:latin typeface="Calibri"/>
                <a:ea typeface="Calibri"/>
                <a:cs typeface="Calibri"/>
                <a:sym typeface="Calibri"/>
              </a:rPr>
              <a:t>Comisión: 10%</a:t>
            </a:r>
            <a:endParaRPr b="0" i="0" sz="950" u="none" cap="none" strike="noStrike">
              <a:solidFill>
                <a:srgbClr val="5C688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4"/>
          <p:cNvSpPr/>
          <p:nvPr/>
        </p:nvSpPr>
        <p:spPr>
          <a:xfrm>
            <a:off x="8083125" y="4154900"/>
            <a:ext cx="1627500" cy="1031700"/>
          </a:xfrm>
          <a:prstGeom prst="roundRect">
            <a:avLst>
              <a:gd fmla="val 5063" name="adj"/>
            </a:avLst>
          </a:prstGeom>
          <a:solidFill>
            <a:srgbClr val="13213F"/>
          </a:solidFill>
          <a:ln cap="flat" cmpd="sng" w="12700">
            <a:solidFill>
              <a:srgbClr val="13213F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B143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14"/>
          <p:cNvSpPr/>
          <p:nvPr/>
        </p:nvSpPr>
        <p:spPr>
          <a:xfrm>
            <a:off x="8083134" y="4208599"/>
            <a:ext cx="1627500" cy="502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9DB2F2"/>
                </a:solidFill>
                <a:latin typeface="Calibri"/>
                <a:ea typeface="Calibri"/>
                <a:cs typeface="Calibri"/>
                <a:sym typeface="Calibri"/>
              </a:rPr>
              <a:t>$15.000 - $30.000</a:t>
            </a:r>
            <a:endParaRPr b="1" i="0" sz="1500" u="none" cap="none" strike="noStrike">
              <a:solidFill>
                <a:srgbClr val="9DB2F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4"/>
          <p:cNvSpPr/>
          <p:nvPr/>
        </p:nvSpPr>
        <p:spPr>
          <a:xfrm>
            <a:off x="8156186" y="4702239"/>
            <a:ext cx="1481400" cy="411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C7D3F5"/>
                </a:solidFill>
                <a:latin typeface="Calibri"/>
                <a:ea typeface="Calibri"/>
                <a:cs typeface="Calibri"/>
                <a:sym typeface="Calibri"/>
              </a:rPr>
              <a:t>Rango por sesión</a:t>
            </a:r>
            <a:br>
              <a:rPr b="0" i="0" lang="en-US" sz="950" u="none" cap="none" strike="noStrike">
                <a:solidFill>
                  <a:srgbClr val="C7D3F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50" u="none" cap="none" strike="noStrike">
                <a:solidFill>
                  <a:srgbClr val="C7D3F5"/>
                </a:solidFill>
                <a:latin typeface="Calibri"/>
                <a:ea typeface="Calibri"/>
                <a:cs typeface="Calibri"/>
                <a:sym typeface="Calibri"/>
              </a:rPr>
              <a:t>Comisión: 15%</a:t>
            </a:r>
            <a:endParaRPr b="0" i="0" sz="950" u="none" cap="none" strike="noStrike">
              <a:solidFill>
                <a:srgbClr val="C7D3F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4"/>
          <p:cNvSpPr/>
          <p:nvPr/>
        </p:nvSpPr>
        <p:spPr>
          <a:xfrm>
            <a:off x="9875349" y="4154900"/>
            <a:ext cx="1627500" cy="1031700"/>
          </a:xfrm>
          <a:prstGeom prst="roundRect">
            <a:avLst>
              <a:gd fmla="val 5063" name="adj"/>
            </a:avLst>
          </a:prstGeom>
          <a:solidFill>
            <a:srgbClr val="F4F7FE"/>
          </a:solidFill>
          <a:ln cap="flat" cmpd="sng" w="12700">
            <a:solidFill>
              <a:srgbClr val="D6DE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14"/>
          <p:cNvSpPr/>
          <p:nvPr/>
        </p:nvSpPr>
        <p:spPr>
          <a:xfrm>
            <a:off x="9875358" y="4208599"/>
            <a:ext cx="1627500" cy="502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F55D4"/>
                </a:solidFill>
                <a:latin typeface="Calibri"/>
                <a:ea typeface="Calibri"/>
                <a:cs typeface="Calibri"/>
                <a:sym typeface="Calibri"/>
              </a:rPr>
              <a:t>$40.000+</a:t>
            </a:r>
            <a:endParaRPr b="1" i="0" sz="1800" u="none" cap="none" strike="noStrike">
              <a:solidFill>
                <a:srgbClr val="2F55D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4"/>
          <p:cNvSpPr/>
          <p:nvPr/>
        </p:nvSpPr>
        <p:spPr>
          <a:xfrm>
            <a:off x="9948410" y="4702239"/>
            <a:ext cx="1481400" cy="411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950" u="none" cap="none" strike="noStrike">
                <a:solidFill>
                  <a:srgbClr val="5C6883"/>
                </a:solidFill>
                <a:latin typeface="Calibri"/>
                <a:ea typeface="Calibri"/>
                <a:cs typeface="Calibri"/>
                <a:sym typeface="Calibri"/>
              </a:rPr>
              <a:t>Rango por sesión</a:t>
            </a:r>
            <a:br>
              <a:rPr b="0" i="0" lang="en-US" sz="950" u="none" cap="none" strike="noStrike">
                <a:solidFill>
                  <a:srgbClr val="5C688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50" u="none" cap="none" strike="noStrike">
                <a:solidFill>
                  <a:srgbClr val="5C6883"/>
                </a:solidFill>
                <a:latin typeface="Calibri"/>
                <a:ea typeface="Calibri"/>
                <a:cs typeface="Calibri"/>
                <a:sym typeface="Calibri"/>
              </a:rPr>
              <a:t>Comisión: 20%</a:t>
            </a:r>
            <a:endParaRPr b="0" i="0" sz="950" u="none" cap="none" strike="noStrike">
              <a:solidFill>
                <a:srgbClr val="5C688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5"/>
          <p:cNvSpPr/>
          <p:nvPr/>
        </p:nvSpPr>
        <p:spPr>
          <a:xfrm>
            <a:off x="640080" y="566928"/>
            <a:ext cx="164592" cy="164592"/>
          </a:xfrm>
          <a:prstGeom prst="rect">
            <a:avLst/>
          </a:prstGeom>
          <a:solidFill>
            <a:srgbClr val="2F55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15"/>
          <p:cNvSpPr/>
          <p:nvPr/>
        </p:nvSpPr>
        <p:spPr>
          <a:xfrm>
            <a:off x="896112" y="45720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5D4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2F55D4"/>
                </a:solidFill>
                <a:latin typeface="Calibri"/>
                <a:ea typeface="Calibri"/>
                <a:cs typeface="Calibri"/>
                <a:sym typeface="Calibri"/>
              </a:rPr>
              <a:t>CIERRE DEL PROYECTO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5"/>
          <p:cNvSpPr/>
          <p:nvPr/>
        </p:nvSpPr>
        <p:spPr>
          <a:xfrm>
            <a:off x="621792" y="749808"/>
            <a:ext cx="10881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5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A2235"/>
                </a:solidFill>
                <a:latin typeface="Calibri"/>
                <a:ea typeface="Calibri"/>
                <a:cs typeface="Calibri"/>
                <a:sym typeface="Calibri"/>
              </a:rPr>
              <a:t>Conclusiones y trabajo futuro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5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3A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A93A8"/>
                </a:solidFill>
                <a:latin typeface="Calibri"/>
                <a:ea typeface="Calibri"/>
                <a:cs typeface="Calibri"/>
                <a:sym typeface="Calibri"/>
              </a:rPr>
              <a:t>ESCUELA DE INFORMÁTICA Y TELECOMUNICACIONES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5"/>
          <p:cNvSpPr/>
          <p:nvPr/>
        </p:nvSpPr>
        <p:spPr>
          <a:xfrm>
            <a:off x="9966960" y="6400800"/>
            <a:ext cx="159105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235"/>
                </a:solidFill>
                <a:latin typeface="Calibri"/>
                <a:ea typeface="Calibri"/>
                <a:cs typeface="Calibri"/>
                <a:sym typeface="Calibri"/>
              </a:rPr>
              <a:t>Duoc UC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5"/>
          <p:cNvSpPr/>
          <p:nvPr/>
        </p:nvSpPr>
        <p:spPr>
          <a:xfrm>
            <a:off x="640080" y="1691640"/>
            <a:ext cx="5349240" cy="4434840"/>
          </a:xfrm>
          <a:prstGeom prst="roundRect">
            <a:avLst>
              <a:gd fmla="val 1649" name="adj"/>
            </a:avLst>
          </a:prstGeom>
          <a:solidFill>
            <a:srgbClr val="FFFFFF"/>
          </a:solidFill>
          <a:ln cap="flat" cmpd="sng" w="12700">
            <a:solidFill>
              <a:srgbClr val="D6DEF2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B143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15"/>
          <p:cNvSpPr/>
          <p:nvPr/>
        </p:nvSpPr>
        <p:spPr>
          <a:xfrm>
            <a:off x="896112" y="1892808"/>
            <a:ext cx="4892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A8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3AA8"/>
                </a:solidFill>
                <a:latin typeface="Calibri"/>
                <a:ea typeface="Calibri"/>
                <a:cs typeface="Calibri"/>
                <a:sym typeface="Calibri"/>
              </a:rPr>
              <a:t>Conclusiones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5"/>
          <p:cNvSpPr/>
          <p:nvPr/>
        </p:nvSpPr>
        <p:spPr>
          <a:xfrm>
            <a:off x="896112" y="2313432"/>
            <a:ext cx="4873752" cy="3648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883"/>
              </a:buClr>
              <a:buSzPts val="1250"/>
              <a:buFont typeface="Calibri"/>
              <a:buChar char="•"/>
            </a:pPr>
            <a:r>
              <a:rPr lang="en-US" sz="1250">
                <a:solidFill>
                  <a:srgbClr val="5C6883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0" i="0" lang="en-US" sz="1250" u="none" cap="none" strike="noStrike">
                <a:solidFill>
                  <a:srgbClr val="5C6883"/>
                </a:solidFill>
                <a:latin typeface="Calibri"/>
                <a:ea typeface="Calibri"/>
                <a:cs typeface="Calibri"/>
                <a:sym typeface="Calibri"/>
              </a:rPr>
              <a:t>e entregó CertiMentor como plataforma web funcional que conecta estudiantes con mentores certificados, cumpliendo el objetivo general del proyecto.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5C6883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5C6883"/>
                </a:solidFill>
                <a:latin typeface="Calibri"/>
                <a:ea typeface="Calibri"/>
                <a:cs typeface="Calibri"/>
                <a:sym typeface="Calibri"/>
              </a:rPr>
              <a:t>4 sprints completados con un 95,9% de cumplimiento de Story Points (70 de 73 SP entregados).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5C6883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5C6883"/>
                </a:solidFill>
                <a:latin typeface="Calibri"/>
                <a:ea typeface="Calibri"/>
                <a:cs typeface="Calibri"/>
                <a:sym typeface="Calibri"/>
              </a:rPr>
              <a:t>Dominio de la integración React + Spring Boot + MySQL con autenticación JWT y despliegue en Railway y Vercel.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5C6883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5C6883"/>
                </a:solidFill>
                <a:latin typeface="Calibri"/>
                <a:ea typeface="Calibri"/>
                <a:cs typeface="Calibri"/>
                <a:sym typeface="Calibri"/>
              </a:rPr>
              <a:t>Aplicación real de SCRUM: resolución efectiva de impedimentos en todos los sprints y mejora continua.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5C6883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5C6883"/>
                </a:solidFill>
                <a:latin typeface="Calibri"/>
                <a:ea typeface="Calibri"/>
                <a:cs typeface="Calibri"/>
                <a:sym typeface="Calibri"/>
              </a:rPr>
              <a:t>Incompatibilidad de versiones de Node resueltas mediante estandarización del entorno con NVM.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5"/>
          <p:cNvSpPr/>
          <p:nvPr/>
        </p:nvSpPr>
        <p:spPr>
          <a:xfrm>
            <a:off x="6172200" y="1691640"/>
            <a:ext cx="5349240" cy="4434840"/>
          </a:xfrm>
          <a:prstGeom prst="roundRect">
            <a:avLst>
              <a:gd fmla="val 1649" name="adj"/>
            </a:avLst>
          </a:prstGeom>
          <a:solidFill>
            <a:srgbClr val="13213F"/>
          </a:solidFill>
          <a:ln>
            <a:noFill/>
          </a:ln>
          <a:effectLst>
            <a:outerShdw blurRad="114300" rotWithShape="0" algn="bl" dir="5400000" dist="38100">
              <a:srgbClr val="0B143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52" name="Google Shape;35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46520" y="1938528"/>
            <a:ext cx="420624" cy="420624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15"/>
          <p:cNvSpPr/>
          <p:nvPr/>
        </p:nvSpPr>
        <p:spPr>
          <a:xfrm>
            <a:off x="6949440" y="1920240"/>
            <a:ext cx="4297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Trabajo futuro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5"/>
          <p:cNvSpPr/>
          <p:nvPr/>
        </p:nvSpPr>
        <p:spPr>
          <a:xfrm>
            <a:off x="6446520" y="2606040"/>
            <a:ext cx="484632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E4F7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DCE4F7"/>
                </a:solidFill>
                <a:latin typeface="Calibri"/>
                <a:ea typeface="Calibri"/>
                <a:cs typeface="Calibri"/>
                <a:sym typeface="Calibri"/>
              </a:rPr>
              <a:t>Videollamadas integradas dentro de la plataforma para sesiones de mentoría síncronas.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DCE4F7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DCE4F7"/>
                </a:solidFill>
                <a:latin typeface="Calibri"/>
                <a:ea typeface="Calibri"/>
                <a:cs typeface="Calibri"/>
                <a:sym typeface="Calibri"/>
              </a:rPr>
              <a:t>Optimización de contenedores Docker y configuración de CI/CD automático.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DCE4F7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DCE4F7"/>
                </a:solidFill>
                <a:latin typeface="Calibri"/>
                <a:ea typeface="Calibri"/>
                <a:cs typeface="Calibri"/>
                <a:sym typeface="Calibri"/>
              </a:rPr>
              <a:t>Integración con plataformas educativas institucionales (Moodle, Canvas) y LinkedIn para validar certificaciones.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DCE4F7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DCE4F7"/>
                </a:solidFill>
                <a:latin typeface="Calibri"/>
                <a:ea typeface="Calibri"/>
                <a:cs typeface="Calibri"/>
                <a:sym typeface="Calibri"/>
              </a:rPr>
              <a:t>Expansión al mercado EdTech latinoamericano con modelo Freemium y alianzas con instituciones técnicas.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213F"/>
        </a:solidFill>
      </p:bgPr>
    </p:bg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6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1C2E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61" name="Google Shape;36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17320" y="2651760"/>
            <a:ext cx="1097280" cy="109728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16"/>
          <p:cNvSpPr/>
          <p:nvPr/>
        </p:nvSpPr>
        <p:spPr>
          <a:xfrm>
            <a:off x="4297680" y="2331720"/>
            <a:ext cx="71323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libri"/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Gracias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6"/>
          <p:cNvSpPr/>
          <p:nvPr/>
        </p:nvSpPr>
        <p:spPr>
          <a:xfrm>
            <a:off x="4334256" y="3337560"/>
            <a:ext cx="7132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DB2F2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9DB2F2"/>
                </a:solidFill>
                <a:latin typeface="Calibri"/>
                <a:ea typeface="Calibri"/>
                <a:cs typeface="Calibri"/>
                <a:sym typeface="Calibri"/>
              </a:rPr>
              <a:t>¿Preguntas?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4" name="Google Shape;364;p16"/>
          <p:cNvCxnSpPr/>
          <p:nvPr/>
        </p:nvCxnSpPr>
        <p:spPr>
          <a:xfrm>
            <a:off x="4370832" y="4069080"/>
            <a:ext cx="2743200" cy="0"/>
          </a:xfrm>
          <a:prstGeom prst="straightConnector1">
            <a:avLst/>
          </a:prstGeom>
          <a:noFill/>
          <a:ln cap="flat" cmpd="sng" w="31750">
            <a:solidFill>
              <a:srgbClr val="2F55D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5" name="Google Shape;365;p16"/>
          <p:cNvSpPr/>
          <p:nvPr/>
        </p:nvSpPr>
        <p:spPr>
          <a:xfrm>
            <a:off x="4370832" y="4297680"/>
            <a:ext cx="69494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BCE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EBCE0"/>
                </a:solidFill>
                <a:latin typeface="Calibri"/>
                <a:ea typeface="Calibri"/>
                <a:cs typeface="Calibri"/>
                <a:sym typeface="Calibri"/>
              </a:rPr>
              <a:t>Brayan Gallardo · Nicolás Parra · Emilio Morales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AEBCE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EBCE0"/>
                </a:solidFill>
                <a:latin typeface="Calibri"/>
                <a:ea typeface="Calibri"/>
                <a:cs typeface="Calibri"/>
                <a:sym typeface="Calibri"/>
              </a:rPr>
              <a:t>Taller Aplicado de Programación — Duoc UC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6"/>
          <p:cNvSpPr/>
          <p:nvPr/>
        </p:nvSpPr>
        <p:spPr>
          <a:xfrm>
            <a:off x="4370832" y="6035040"/>
            <a:ext cx="6949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7D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7DA8"/>
                </a:solidFill>
                <a:latin typeface="Calibri"/>
                <a:ea typeface="Calibri"/>
                <a:cs typeface="Calibri"/>
                <a:sym typeface="Calibri"/>
              </a:rPr>
              <a:t>Escuela de Informática y Telecomunicaciones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2026-06-09T20:22:06Z</dcterms:created>
  <dc:creator>Duoc UC - Escuela de Informática y Telecomunicaciones</dc:creator>
</cp:coreProperties>
</file>